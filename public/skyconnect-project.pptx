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9.xml" ContentType="application/vnd.openxmlformats-officedocument.presentationml.notesSlide+xml"/>
  <Override PartName="/ppt/charts/chart8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9" r:id="rId3"/>
    <p:sldId id="257" r:id="rId4"/>
    <p:sldId id="258" r:id="rId5"/>
    <p:sldId id="260" r:id="rId6"/>
    <p:sldId id="262" r:id="rId7"/>
    <p:sldId id="261" r:id="rId8"/>
    <p:sldId id="263" r:id="rId9"/>
    <p:sldId id="264" r:id="rId10"/>
    <p:sldId id="270" r:id="rId11"/>
    <p:sldId id="271" r:id="rId12"/>
    <p:sldId id="272" r:id="rId13"/>
    <p:sldId id="265" r:id="rId14"/>
    <p:sldId id="274" r:id="rId15"/>
    <p:sldId id="273" r:id="rId16"/>
    <p:sldId id="268" r:id="rId17"/>
    <p:sldId id="269" r:id="rId18"/>
    <p:sldId id="275" r:id="rId19"/>
    <p:sldId id="267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300"/>
    <a:srgbClr val="FF9933"/>
    <a:srgbClr val="FFCC99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81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A89880"/>
                </a:solidFill>
                <a:latin typeface="Arial"/>
              </a:defRPr>
            </a:pPr>
            <a:r>
              <a:rPr lang="en-US" sz="1200" b="0" i="0" u="none" strike="noStrike" dirty="0">
                <a:solidFill>
                  <a:srgbClr val="A89880"/>
                </a:solidFill>
                <a:latin typeface="Arial"/>
              </a:rPr>
              <a:t>Revenue by Year (Millions)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(M)</c:v>
                </c:pt>
              </c:strCache>
            </c:strRef>
          </c:tx>
          <c:spPr>
            <a:solidFill>
              <a:srgbClr val="C1440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EA9-40C1-AE4F-DE990F1C1133}"/>
              </c:ext>
            </c:extLst>
          </c:dPt>
          <c:dPt>
            <c:idx val="1"/>
            <c:invertIfNegative val="0"/>
            <c:bubble3D val="0"/>
            <c:spPr>
              <a:solidFill>
                <a:srgbClr val="D492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EA9-40C1-AE4F-DE990F1C1133}"/>
              </c:ext>
            </c:extLst>
          </c:dPt>
          <c:dPt>
            <c:idx val="2"/>
            <c:invertIfNegative val="0"/>
            <c:bubble3D val="0"/>
            <c:spPr>
              <a:solidFill>
                <a:srgbClr val="C84B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EA9-40C1-AE4F-DE990F1C113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68</c:v>
                </c:pt>
                <c:pt idx="1">
                  <c:v>272</c:v>
                </c:pt>
                <c:pt idx="2">
                  <c:v>250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EA9-40C1-AE4F-DE990F1C113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98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98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1E1E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A89880"/>
                </a:solidFill>
                <a:latin typeface="Arial"/>
              </a:defRPr>
            </a:pPr>
            <a:r>
              <a:rPr lang="en-US" sz="1200" b="0" i="0" u="none" strike="noStrike" dirty="0">
                <a:solidFill>
                  <a:srgbClr val="A89880"/>
                </a:solidFill>
                <a:latin typeface="Arial"/>
              </a:rPr>
              <a:t>Top 5</a:t>
            </a:r>
            <a:r>
              <a:rPr lang="en-US" sz="1200" b="0" i="0" u="none" strike="noStrike" baseline="0" dirty="0">
                <a:solidFill>
                  <a:srgbClr val="A89880"/>
                </a:solidFill>
                <a:latin typeface="Arial"/>
              </a:rPr>
              <a:t> Revenue by Route </a:t>
            </a:r>
            <a:r>
              <a:rPr lang="en-US" sz="1200" b="0" i="0" u="none" strike="noStrike" dirty="0">
                <a:solidFill>
                  <a:srgbClr val="A89880"/>
                </a:solidFill>
                <a:latin typeface="Arial"/>
              </a:rPr>
              <a:t>(Million)</a:t>
            </a:r>
          </a:p>
        </c:rich>
      </c:tx>
      <c:layout>
        <c:manualLayout>
          <c:xMode val="edge"/>
          <c:yMode val="edge"/>
          <c:x val="0.19790145117729852"/>
          <c:y val="3.2894736842105261E-2"/>
        </c:manualLayout>
      </c:layout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(M$)</c:v>
                </c:pt>
              </c:strCache>
            </c:strRef>
          </c:tx>
          <c:spPr>
            <a:solidFill>
              <a:srgbClr val="C1440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Lagos→Dakar</c:v>
                </c:pt>
                <c:pt idx="1">
                  <c:v>Port Harcourt→Lusaka</c:v>
                </c:pt>
                <c:pt idx="2">
                  <c:v>Port Harcourt→Dar es Salaam </c:v>
                </c:pt>
                <c:pt idx="3">
                  <c:v>Cairo→PortHarcourt</c:v>
                </c:pt>
                <c:pt idx="4">
                  <c:v>Lagos→Nairobi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9.9</c:v>
                </c:pt>
                <c:pt idx="1">
                  <c:v>9.9</c:v>
                </c:pt>
                <c:pt idx="2">
                  <c:v>10.4</c:v>
                </c:pt>
                <c:pt idx="3">
                  <c:v>10.5</c:v>
                </c:pt>
                <c:pt idx="4">
                  <c:v>13.3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3A-4AA0-B302-C6B8EABA3DB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98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98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1E1E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A89880"/>
                </a:solidFill>
                <a:latin typeface="Arial"/>
              </a:defRPr>
            </a:pPr>
            <a:r>
              <a:rPr lang="en-US" sz="1200" b="0" i="0" u="none" strike="noStrike" dirty="0">
                <a:solidFill>
                  <a:srgbClr val="A89880"/>
                </a:solidFill>
                <a:latin typeface="Arial"/>
              </a:rPr>
              <a:t>Revenue by Airline (Millon)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(M$)</c:v>
                </c:pt>
              </c:strCache>
            </c:strRef>
          </c:tx>
          <c:spPr>
            <a:solidFill>
              <a:srgbClr val="D4922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36B-459B-AB5A-AA83C1407C10}"/>
              </c:ext>
            </c:extLst>
          </c:dPt>
          <c:dPt>
            <c:idx val="1"/>
            <c:invertIfNegative val="0"/>
            <c:bubble3D val="0"/>
            <c:spPr>
              <a:solidFill>
                <a:srgbClr val="C1440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36B-459B-AB5A-AA83C1407C10}"/>
              </c:ext>
            </c:extLst>
          </c:dPt>
          <c:dPt>
            <c:idx val="2"/>
            <c:invertIfNegative val="0"/>
            <c:bubble3D val="0"/>
            <c:spPr>
              <a:solidFill>
                <a:srgbClr val="D484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36B-459B-AB5A-AA83C1407C10}"/>
              </c:ext>
            </c:extLst>
          </c:dPt>
          <c:dPt>
            <c:idx val="3"/>
            <c:invertIfNegative val="0"/>
            <c:bubble3D val="0"/>
            <c:spPr>
              <a:solidFill>
                <a:srgbClr val="7DA87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36B-459B-AB5A-AA83C1407C10}"/>
              </c:ext>
            </c:extLst>
          </c:dPt>
          <c:dPt>
            <c:idx val="4"/>
            <c:invertIfNegative val="0"/>
            <c:bubble3D val="0"/>
            <c:spPr>
              <a:solidFill>
                <a:srgbClr val="AB47B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36B-459B-AB5A-AA83C1407C1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EgyptAir</c:v>
                </c:pt>
                <c:pt idx="1">
                  <c:v>Ethiopian Airlines </c:v>
                </c:pt>
                <c:pt idx="2">
                  <c:v>Arik Air </c:v>
                </c:pt>
                <c:pt idx="3">
                  <c:v>Air Peace </c:v>
                </c:pt>
                <c:pt idx="4">
                  <c:v>Dana Air</c:v>
                </c:pt>
                <c:pt idx="5">
                  <c:v>Kenya Airways 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115</c:v>
                </c:pt>
                <c:pt idx="1">
                  <c:v>115</c:v>
                </c:pt>
                <c:pt idx="2">
                  <c:v>101</c:v>
                </c:pt>
                <c:pt idx="3">
                  <c:v>91</c:v>
                </c:pt>
                <c:pt idx="4">
                  <c:v>89</c:v>
                </c:pt>
                <c:pt idx="5">
                  <c:v>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36B-459B-AB5A-AA83C1407C1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98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98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solidFill>
      <a:srgbClr val="1E1E1E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A89880"/>
                </a:solidFill>
                <a:latin typeface="Arial"/>
              </a:defRPr>
            </a:pPr>
            <a:r>
              <a:rPr lang="en-US" sz="1100" b="0" i="0" u="none" strike="noStrike" dirty="0">
                <a:solidFill>
                  <a:srgbClr val="A89880"/>
                </a:solidFill>
                <a:latin typeface="Arial"/>
              </a:rPr>
              <a:t>Delay Minutes</a:t>
            </a:r>
            <a:r>
              <a:rPr lang="en-US" sz="1100" b="0" i="0" u="none" strike="noStrike" baseline="0" dirty="0">
                <a:solidFill>
                  <a:srgbClr val="A89880"/>
                </a:solidFill>
                <a:latin typeface="Arial"/>
              </a:rPr>
              <a:t> by Delay Reason </a:t>
            </a:r>
            <a:endParaRPr lang="en-US" sz="1100" b="0" i="0" u="none" strike="noStrike" dirty="0">
              <a:solidFill>
                <a:srgbClr val="A89880"/>
              </a:solidFill>
              <a:latin typeface="Arial"/>
            </a:endParaRP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Delay (min)</c:v>
                </c:pt>
              </c:strCache>
            </c:strRef>
          </c:tx>
          <c:spPr>
            <a:solidFill>
              <a:srgbClr val="C84B2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A9F-4F91-846F-424E48A33F05}"/>
              </c:ext>
            </c:extLst>
          </c:dPt>
          <c:dPt>
            <c:idx val="1"/>
            <c:invertIfNegative val="0"/>
            <c:bubble3D val="0"/>
            <c:spPr>
              <a:solidFill>
                <a:srgbClr val="D492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A9F-4F91-846F-424E48A33F05}"/>
              </c:ext>
            </c:extLst>
          </c:dPt>
          <c:dPt>
            <c:idx val="2"/>
            <c:invertIfNegative val="0"/>
            <c:bubble3D val="0"/>
            <c:spPr>
              <a:solidFill>
                <a:srgbClr val="D484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A9F-4F91-846F-424E48A33F05}"/>
              </c:ext>
            </c:extLst>
          </c:dPt>
          <c:dPt>
            <c:idx val="3"/>
            <c:invertIfNegative val="0"/>
            <c:bubble3D val="0"/>
            <c:spPr>
              <a:solidFill>
                <a:srgbClr val="7DA87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A9F-4F91-846F-424E48A33F05}"/>
              </c:ext>
            </c:extLst>
          </c:dPt>
          <c:dPt>
            <c:idx val="4"/>
            <c:invertIfNegative val="0"/>
            <c:bubble3D val="0"/>
            <c:spPr>
              <a:solidFill>
                <a:srgbClr val="AB47B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A9F-4F91-846F-424E48A33F0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Catering Delay </c:v>
                </c:pt>
                <c:pt idx="1">
                  <c:v>Security Check </c:v>
                </c:pt>
                <c:pt idx="2">
                  <c:v>Fueling Delay </c:v>
                </c:pt>
                <c:pt idx="3">
                  <c:v>Crew Availability </c:v>
                </c:pt>
                <c:pt idx="4">
                  <c:v>Technical Fault </c:v>
                </c:pt>
                <c:pt idx="5">
                  <c:v>Late Arriving Aircraft </c:v>
                </c:pt>
                <c:pt idx="6">
                  <c:v>Air Traffic Control</c:v>
                </c:pt>
                <c:pt idx="7">
                  <c:v>Weather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109</c:v>
                </c:pt>
                <c:pt idx="1">
                  <c:v>116</c:v>
                </c:pt>
                <c:pt idx="2">
                  <c:v>116</c:v>
                </c:pt>
                <c:pt idx="3">
                  <c:v>116</c:v>
                </c:pt>
                <c:pt idx="4">
                  <c:v>122</c:v>
                </c:pt>
                <c:pt idx="5">
                  <c:v>128</c:v>
                </c:pt>
                <c:pt idx="6">
                  <c:v>137</c:v>
                </c:pt>
                <c:pt idx="7">
                  <c:v>145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A9F-4F91-846F-424E48A33F0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98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98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1E1E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A8988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A89880"/>
                </a:solidFill>
                <a:latin typeface="Arial"/>
              </a:rPr>
              <a:t>Delay Severity Distribution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Severity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84B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3A3-4E04-8BC5-3AC2F0EB7703}"/>
              </c:ext>
            </c:extLst>
          </c:dPt>
          <c:dPt>
            <c:idx val="1"/>
            <c:bubble3D val="0"/>
            <c:spPr>
              <a:solidFill>
                <a:srgbClr val="D492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3A3-4E04-8BC5-3AC2F0EB7703}"/>
              </c:ext>
            </c:extLst>
          </c:dPt>
          <c:dPt>
            <c:idx val="2"/>
            <c:bubble3D val="0"/>
            <c:spPr>
              <a:solidFill>
                <a:srgbClr val="7DA87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3A3-4E04-8BC5-3AC2F0EB7703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3A3-4E04-8BC5-3AC2F0EB7703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3A3-4E04-8BC5-3AC2F0EB7703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3A3-4E04-8BC5-3AC2F0EB770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Severe</c:v>
                </c:pt>
                <c:pt idx="1">
                  <c:v>Moderate</c:v>
                </c:pt>
                <c:pt idx="2">
                  <c:v>Short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76.8</c:v>
                </c:pt>
                <c:pt idx="1">
                  <c:v>13.28</c:v>
                </c:pt>
                <c:pt idx="2">
                  <c:v>9.9600000000000009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3A3-4E04-8BC5-3AC2F0EB77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A8988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E1E1E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A89880"/>
                </a:solidFill>
                <a:latin typeface="Arial"/>
              </a:defRPr>
            </a:pPr>
            <a:r>
              <a:rPr lang="en-US" sz="1200" b="0" i="0" u="none" strike="noStrike" dirty="0">
                <a:solidFill>
                  <a:srgbClr val="A89880"/>
                </a:solidFill>
                <a:latin typeface="Arial"/>
              </a:rPr>
              <a:t>Revenue by Seat Class</a:t>
            </a:r>
            <a:r>
              <a:rPr lang="en-US" sz="1200" b="0" i="0" u="none" strike="noStrike" baseline="0" dirty="0">
                <a:solidFill>
                  <a:srgbClr val="A89880"/>
                </a:solidFill>
                <a:latin typeface="Arial"/>
              </a:rPr>
              <a:t> </a:t>
            </a:r>
            <a:endParaRPr lang="en-US" sz="1200" b="0" i="0" u="none" strike="noStrike" dirty="0">
              <a:solidFill>
                <a:srgbClr val="A89880"/>
              </a:solidFill>
              <a:latin typeface="Arial"/>
            </a:endParaRP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Bookings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1440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CBA-406C-B779-6EFDC128399D}"/>
              </c:ext>
            </c:extLst>
          </c:dPt>
          <c:dPt>
            <c:idx val="1"/>
            <c:bubble3D val="0"/>
            <c:spPr>
              <a:solidFill>
                <a:srgbClr val="D492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CBA-406C-B779-6EFDC128399D}"/>
              </c:ext>
            </c:extLst>
          </c:dPt>
          <c:dPt>
            <c:idx val="2"/>
            <c:bubble3D val="0"/>
            <c:spPr>
              <a:solidFill>
                <a:srgbClr val="AB47B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CBA-406C-B779-6EFDC128399D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CBA-406C-B779-6EFDC128399D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CBA-406C-B779-6EFDC128399D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CBA-406C-B779-6EFDC128399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Economy</c:v>
                </c:pt>
                <c:pt idx="1">
                  <c:v>Business</c:v>
                </c:pt>
                <c:pt idx="2">
                  <c:v>First Class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</c:v>
                </c:pt>
                <c:pt idx="1">
                  <c:v>34</c:v>
                </c:pt>
                <c:pt idx="2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CBA-406C-B779-6EFDC12839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A8988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E1E1E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A89880"/>
                </a:solidFill>
                <a:latin typeface="Arial"/>
              </a:defRPr>
            </a:pPr>
            <a:r>
              <a:rPr lang="en-US" sz="1200" b="0" i="0" u="none" strike="noStrike" dirty="0">
                <a:solidFill>
                  <a:srgbClr val="A89880"/>
                </a:solidFill>
                <a:latin typeface="Arial"/>
              </a:rPr>
              <a:t>Count</a:t>
            </a:r>
            <a:r>
              <a:rPr lang="en-US" sz="1200" b="0" i="0" u="none" strike="noStrike" baseline="0" dirty="0">
                <a:solidFill>
                  <a:srgbClr val="A89880"/>
                </a:solidFill>
                <a:latin typeface="Arial"/>
              </a:rPr>
              <a:t> of Bookings by Seat Class </a:t>
            </a:r>
            <a:endParaRPr lang="en-US" sz="1200" b="0" i="0" u="none" strike="noStrike" dirty="0">
              <a:solidFill>
                <a:srgbClr val="A89880"/>
              </a:solidFill>
              <a:latin typeface="Arial"/>
            </a:endParaRP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%</c:v>
                </c:pt>
              </c:strCache>
            </c:strRef>
          </c:tx>
          <c:spPr>
            <a:solidFill>
              <a:srgbClr val="C1440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A07-428C-B8F8-23BB0320E191}"/>
              </c:ext>
            </c:extLst>
          </c:dPt>
          <c:dPt>
            <c:idx val="1"/>
            <c:invertIfNegative val="0"/>
            <c:bubble3D val="0"/>
            <c:spPr>
              <a:solidFill>
                <a:srgbClr val="D492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A07-428C-B8F8-23BB0320E191}"/>
              </c:ext>
            </c:extLst>
          </c:dPt>
          <c:dPt>
            <c:idx val="2"/>
            <c:invertIfNegative val="0"/>
            <c:bubble3D val="0"/>
            <c:spPr>
              <a:solidFill>
                <a:srgbClr val="AB47B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A07-428C-B8F8-23BB0320E19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Economy</c:v>
                </c:pt>
                <c:pt idx="1">
                  <c:v>Business</c:v>
                </c:pt>
                <c:pt idx="2">
                  <c:v>First Class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786</c:v>
                </c:pt>
                <c:pt idx="1">
                  <c:v>303</c:v>
                </c:pt>
                <c:pt idx="2">
                  <c:v>111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A07-428C-B8F8-23BB0320E19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98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98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1E1E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A89880"/>
                </a:solidFill>
                <a:latin typeface="Arial"/>
              </a:defRPr>
            </a:pPr>
            <a:r>
              <a:rPr lang="en-US" sz="1200" b="0" i="0" u="none" strike="noStrike" dirty="0">
                <a:solidFill>
                  <a:srgbClr val="A89880"/>
                </a:solidFill>
                <a:latin typeface="Arial"/>
              </a:rPr>
              <a:t>Revenue</a:t>
            </a:r>
            <a:r>
              <a:rPr lang="en-US" sz="1200" b="0" i="0" u="none" strike="noStrike" baseline="0" dirty="0">
                <a:solidFill>
                  <a:srgbClr val="A89880"/>
                </a:solidFill>
                <a:latin typeface="Arial"/>
              </a:rPr>
              <a:t> by Loyalty Status (Millions) 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(M$)</c:v>
                </c:pt>
              </c:strCache>
            </c:strRef>
          </c:tx>
          <c:spPr>
            <a:solidFill>
              <a:srgbClr val="D4845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214-4F97-A6FF-BE348FE94ABF}"/>
              </c:ext>
            </c:extLst>
          </c:dPt>
          <c:dPt>
            <c:idx val="1"/>
            <c:invertIfNegative val="0"/>
            <c:bubble3D val="0"/>
            <c:spPr>
              <a:solidFill>
                <a:srgbClr val="D492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214-4F97-A6FF-BE348FE94ABF}"/>
              </c:ext>
            </c:extLst>
          </c:dPt>
          <c:dPt>
            <c:idx val="2"/>
            <c:invertIfNegative val="0"/>
            <c:bubble3D val="0"/>
            <c:spPr>
              <a:solidFill>
                <a:srgbClr val="A898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214-4F97-A6FF-BE348FE94ABF}"/>
              </c:ext>
            </c:extLst>
          </c:dPt>
          <c:dPt>
            <c:idx val="3"/>
            <c:invertIfNegative val="0"/>
            <c:bubble3D val="0"/>
            <c:spPr>
              <a:solidFill>
                <a:srgbClr val="AB47B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214-4F97-A6FF-BE348FE94AB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Regular</c:v>
                </c:pt>
                <c:pt idx="1">
                  <c:v>Gold</c:v>
                </c:pt>
                <c:pt idx="2">
                  <c:v>Silver</c:v>
                </c:pt>
                <c:pt idx="3">
                  <c:v>Platinum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</c:v>
                </c:pt>
                <c:pt idx="1">
                  <c:v>10</c:v>
                </c:pt>
                <c:pt idx="2">
                  <c:v>9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214-4F97-A6FF-BE348FE94AB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98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98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1E1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9051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2724E-1CBF-D9F6-9E7E-BEE441B0B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EBDB1B-859D-E52B-C2EF-663061B1B8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8BB70E-4946-8722-9175-9E0A89B8CA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53FB71-1C78-1D29-4122-D122462430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1833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AE9EF-ACAB-324A-9B6B-1E533352D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51BB6F-6A5C-04D4-7A80-DB99BFE94C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8D197B-F681-56CA-8E66-7DC755E89A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8A7C7B-07BC-334E-747E-931E4B6E41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3863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BA479-29A4-6BCE-3A52-58E6DB961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A05402-2B89-7C3B-2F2A-3BD6FE6E27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A7D9F0-C72D-983F-4326-3E67B4E24B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05D40A-6B01-20F6-FC2A-AD8BD786DC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8011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2E876-4F0C-5DDB-A429-F0C1B0823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79AD6F-F4C4-848E-64E8-70042D0981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91CA4C-C14D-ABE8-4501-6A9FAE4DBD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00F553-4489-12EF-499D-6D1D183D7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6573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3BE3B-576F-B9ED-E45F-16632D9EA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9157C5-3665-8939-36B3-FD52A0845D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35A101-40C9-93B9-90BE-2D16A5470C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F12671-237D-F90E-08AF-48C0E47527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7022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86759-6F5E-DDD1-1588-F30053B31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632A16-BE59-660D-2D1D-B8D4186F1E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6E182A-2A67-20AF-9DB7-77B53505D8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09FA67-1E97-0C68-142D-E7FA32FA70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1723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E5014-7DE3-8E7B-FC47-81C81B894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A943AD-55D6-E87F-30F9-7079B43D12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9BAF0C-C6FA-6689-4AEC-60C2B5019B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E0D1D9-C908-7C88-DF86-9CF05249FA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099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90017-E79E-514A-71D4-FB647A23C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ECEBB6-77FD-4CAF-54CE-C61041CE7E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018B38-7067-59F0-6A53-EB93A4B338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0A016-2E76-0DF4-A5DA-EA52E8B37F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6190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1440E"/>
          </a:solidFill>
          <a:ln/>
        </p:spPr>
      </p:sp>
      <p:sp>
        <p:nvSpPr>
          <p:cNvPr id="4" name="Shape 2"/>
          <p:cNvSpPr/>
          <p:nvPr/>
        </p:nvSpPr>
        <p:spPr>
          <a:xfrm>
            <a:off x="5577840" y="274320"/>
            <a:ext cx="54864" cy="54864"/>
          </a:xfrm>
          <a:prstGeom prst="ellipse">
            <a:avLst/>
          </a:prstGeom>
          <a:solidFill>
            <a:srgbClr val="C1440E">
              <a:alpha val="30000"/>
            </a:srgbClr>
          </a:solidFill>
          <a:ln w="12700">
            <a:solidFill>
              <a:srgbClr val="C1440E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0" y="274320"/>
            <a:ext cx="54864" cy="54864"/>
          </a:xfrm>
          <a:prstGeom prst="ellipse">
            <a:avLst/>
          </a:prstGeom>
          <a:solidFill>
            <a:srgbClr val="C1440E">
              <a:alpha val="30000"/>
            </a:srgbClr>
          </a:solidFill>
          <a:ln w="12700">
            <a:solidFill>
              <a:srgbClr val="C1440E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0" y="274320"/>
            <a:ext cx="54864" cy="54864"/>
          </a:xfrm>
          <a:prstGeom prst="ellipse">
            <a:avLst/>
          </a:prstGeom>
          <a:solidFill>
            <a:srgbClr val="C1440E">
              <a:alpha val="30000"/>
            </a:srgbClr>
          </a:solidFill>
          <a:ln w="12700">
            <a:solidFill>
              <a:srgbClr val="C1440E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49440" y="274320"/>
            <a:ext cx="54864" cy="54864"/>
          </a:xfrm>
          <a:prstGeom prst="ellipse">
            <a:avLst/>
          </a:prstGeom>
          <a:solidFill>
            <a:srgbClr val="C1440E">
              <a:alpha val="30000"/>
            </a:srgbClr>
          </a:solidFill>
          <a:ln w="12700">
            <a:solidFill>
              <a:srgbClr val="C1440E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06640" y="274320"/>
            <a:ext cx="54864" cy="54864"/>
          </a:xfrm>
          <a:prstGeom prst="ellipse">
            <a:avLst/>
          </a:prstGeom>
          <a:solidFill>
            <a:srgbClr val="C1440E">
              <a:alpha val="30000"/>
            </a:srgbClr>
          </a:solidFill>
          <a:ln w="12700">
            <a:solidFill>
              <a:srgbClr val="C1440E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0" y="274320"/>
            <a:ext cx="54864" cy="54864"/>
          </a:xfrm>
          <a:prstGeom prst="ellipse">
            <a:avLst/>
          </a:prstGeom>
          <a:solidFill>
            <a:srgbClr val="C1440E">
              <a:alpha val="30000"/>
            </a:srgbClr>
          </a:solidFill>
          <a:ln w="12700">
            <a:solidFill>
              <a:srgbClr val="C1440E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21040" y="274320"/>
            <a:ext cx="54864" cy="54864"/>
          </a:xfrm>
          <a:prstGeom prst="ellipse">
            <a:avLst/>
          </a:prstGeom>
          <a:solidFill>
            <a:srgbClr val="C1440E">
              <a:alpha val="30000"/>
            </a:srgbClr>
          </a:solidFill>
          <a:ln w="12700">
            <a:solidFill>
              <a:srgbClr val="C1440E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0" y="274320"/>
            <a:ext cx="54864" cy="54864"/>
          </a:xfrm>
          <a:prstGeom prst="ellipse">
            <a:avLst/>
          </a:prstGeom>
          <a:solidFill>
            <a:srgbClr val="C1440E">
              <a:alpha val="30000"/>
            </a:srgbClr>
          </a:solidFill>
          <a:ln w="12700">
            <a:solidFill>
              <a:srgbClr val="C1440E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77840" y="1051560"/>
            <a:ext cx="54864" cy="54864"/>
          </a:xfrm>
          <a:prstGeom prst="ellipse">
            <a:avLst/>
          </a:prstGeom>
          <a:solidFill>
            <a:srgbClr val="C1440E">
              <a:alpha val="30000"/>
            </a:srgbClr>
          </a:solidFill>
          <a:ln w="12700">
            <a:solidFill>
              <a:srgbClr val="C1440E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1051560"/>
            <a:ext cx="54864" cy="54864"/>
          </a:xfrm>
          <a:prstGeom prst="ellipse">
            <a:avLst/>
          </a:prstGeom>
          <a:solidFill>
            <a:srgbClr val="C1440E">
              <a:alpha val="30000"/>
            </a:srgbClr>
          </a:solidFill>
          <a:ln w="12700">
            <a:solidFill>
              <a:srgbClr val="C1440E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0" y="1051560"/>
            <a:ext cx="54864" cy="54864"/>
          </a:xfrm>
          <a:prstGeom prst="ellipse">
            <a:avLst/>
          </a:prstGeom>
          <a:solidFill>
            <a:srgbClr val="C1440E">
              <a:alpha val="30000"/>
            </a:srgbClr>
          </a:solidFill>
          <a:ln w="12700">
            <a:solidFill>
              <a:srgbClr val="C1440E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0" y="1051560"/>
            <a:ext cx="54864" cy="54864"/>
          </a:xfrm>
          <a:prstGeom prst="ellipse">
            <a:avLst/>
          </a:prstGeom>
          <a:solidFill>
            <a:srgbClr val="C1440E">
              <a:alpha val="30000"/>
            </a:srgbClr>
          </a:solidFill>
          <a:ln w="12700">
            <a:solidFill>
              <a:srgbClr val="C1440E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06640" y="1051560"/>
            <a:ext cx="54864" cy="54864"/>
          </a:xfrm>
          <a:prstGeom prst="ellipse">
            <a:avLst/>
          </a:prstGeom>
          <a:solidFill>
            <a:srgbClr val="C1440E">
              <a:alpha val="30000"/>
            </a:srgbClr>
          </a:solidFill>
          <a:ln w="12700">
            <a:solidFill>
              <a:srgbClr val="C1440E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63840" y="1051560"/>
            <a:ext cx="54864" cy="54864"/>
          </a:xfrm>
          <a:prstGeom prst="ellipse">
            <a:avLst/>
          </a:prstGeom>
          <a:solidFill>
            <a:srgbClr val="C1440E">
              <a:alpha val="30000"/>
            </a:srgbClr>
          </a:solidFill>
          <a:ln w="12700">
            <a:solidFill>
              <a:srgbClr val="C1440E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21040" y="1051560"/>
            <a:ext cx="54864" cy="54864"/>
          </a:xfrm>
          <a:prstGeom prst="ellipse">
            <a:avLst/>
          </a:prstGeom>
          <a:solidFill>
            <a:srgbClr val="C1440E">
              <a:alpha val="30000"/>
            </a:srgbClr>
          </a:solidFill>
          <a:ln w="12700">
            <a:solidFill>
              <a:srgbClr val="C1440E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0" y="1051560"/>
            <a:ext cx="54864" cy="54864"/>
          </a:xfrm>
          <a:prstGeom prst="ellipse">
            <a:avLst/>
          </a:prstGeom>
          <a:solidFill>
            <a:srgbClr val="C1440E">
              <a:alpha val="30000"/>
            </a:srgbClr>
          </a:solidFill>
          <a:ln w="12700">
            <a:solidFill>
              <a:srgbClr val="C1440E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77840" y="1828800"/>
            <a:ext cx="54864" cy="54864"/>
          </a:xfrm>
          <a:prstGeom prst="ellipse">
            <a:avLst/>
          </a:prstGeom>
          <a:solidFill>
            <a:srgbClr val="C1440E">
              <a:alpha val="30000"/>
            </a:srgbClr>
          </a:solidFill>
          <a:ln w="12700">
            <a:solidFill>
              <a:srgbClr val="C1440E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35040" y="1828800"/>
            <a:ext cx="54864" cy="54864"/>
          </a:xfrm>
          <a:prstGeom prst="ellipse">
            <a:avLst/>
          </a:prstGeom>
          <a:solidFill>
            <a:srgbClr val="C1440E">
              <a:alpha val="30000"/>
            </a:srgbClr>
          </a:solidFill>
          <a:ln w="12700">
            <a:solidFill>
              <a:srgbClr val="C1440E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92240" y="1828800"/>
            <a:ext cx="54864" cy="54864"/>
          </a:xfrm>
          <a:prstGeom prst="ellipse">
            <a:avLst/>
          </a:prstGeom>
          <a:solidFill>
            <a:srgbClr val="C1440E">
              <a:alpha val="30000"/>
            </a:srgbClr>
          </a:solidFill>
          <a:ln w="12700">
            <a:solidFill>
              <a:srgbClr val="C1440E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49440" y="1828800"/>
            <a:ext cx="54864" cy="54864"/>
          </a:xfrm>
          <a:prstGeom prst="ellipse">
            <a:avLst/>
          </a:prstGeom>
          <a:solidFill>
            <a:srgbClr val="C1440E">
              <a:alpha val="30000"/>
            </a:srgbClr>
          </a:solidFill>
          <a:ln w="12700">
            <a:solidFill>
              <a:srgbClr val="C1440E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06640" y="1828800"/>
            <a:ext cx="54864" cy="54864"/>
          </a:xfrm>
          <a:prstGeom prst="ellipse">
            <a:avLst/>
          </a:prstGeom>
          <a:solidFill>
            <a:srgbClr val="C1440E">
              <a:alpha val="30000"/>
            </a:srgbClr>
          </a:solidFill>
          <a:ln w="12700">
            <a:solidFill>
              <a:srgbClr val="C1440E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3840" y="1828800"/>
            <a:ext cx="54864" cy="54864"/>
          </a:xfrm>
          <a:prstGeom prst="ellipse">
            <a:avLst/>
          </a:prstGeom>
          <a:solidFill>
            <a:srgbClr val="C1440E">
              <a:alpha val="30000"/>
            </a:srgbClr>
          </a:solidFill>
          <a:ln w="12700">
            <a:solidFill>
              <a:srgbClr val="C1440E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21040" y="1828800"/>
            <a:ext cx="54864" cy="54864"/>
          </a:xfrm>
          <a:prstGeom prst="ellipse">
            <a:avLst/>
          </a:prstGeom>
          <a:solidFill>
            <a:srgbClr val="C1440E">
              <a:alpha val="30000"/>
            </a:srgbClr>
          </a:solidFill>
          <a:ln w="12700">
            <a:solidFill>
              <a:srgbClr val="C1440E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78240" y="1828800"/>
            <a:ext cx="54864" cy="54864"/>
          </a:xfrm>
          <a:prstGeom prst="ellipse">
            <a:avLst/>
          </a:prstGeom>
          <a:solidFill>
            <a:srgbClr val="C1440E">
              <a:alpha val="30000"/>
            </a:srgbClr>
          </a:solidFill>
          <a:ln w="12700">
            <a:solidFill>
              <a:srgbClr val="C1440E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77840" y="2606040"/>
            <a:ext cx="54864" cy="54864"/>
          </a:xfrm>
          <a:prstGeom prst="ellipse">
            <a:avLst/>
          </a:prstGeom>
          <a:solidFill>
            <a:srgbClr val="C1440E">
              <a:alpha val="30000"/>
            </a:srgbClr>
          </a:solidFill>
          <a:ln w="12700">
            <a:solidFill>
              <a:srgbClr val="C1440E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35040" y="2606040"/>
            <a:ext cx="54864" cy="54864"/>
          </a:xfrm>
          <a:prstGeom prst="ellipse">
            <a:avLst/>
          </a:prstGeom>
          <a:solidFill>
            <a:srgbClr val="C1440E">
              <a:alpha val="30000"/>
            </a:srgbClr>
          </a:solidFill>
          <a:ln w="12700">
            <a:solidFill>
              <a:srgbClr val="C1440E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2240" y="2606040"/>
            <a:ext cx="54864" cy="54864"/>
          </a:xfrm>
          <a:prstGeom prst="ellipse">
            <a:avLst/>
          </a:prstGeom>
          <a:solidFill>
            <a:srgbClr val="C1440E">
              <a:alpha val="30000"/>
            </a:srgbClr>
          </a:solidFill>
          <a:ln w="12700">
            <a:solidFill>
              <a:srgbClr val="C1440E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49440" y="2606040"/>
            <a:ext cx="54864" cy="54864"/>
          </a:xfrm>
          <a:prstGeom prst="ellipse">
            <a:avLst/>
          </a:prstGeom>
          <a:solidFill>
            <a:srgbClr val="C1440E">
              <a:alpha val="30000"/>
            </a:srgbClr>
          </a:solidFill>
          <a:ln w="12700">
            <a:solidFill>
              <a:srgbClr val="C1440E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06640" y="2606040"/>
            <a:ext cx="54864" cy="54864"/>
          </a:xfrm>
          <a:prstGeom prst="ellipse">
            <a:avLst/>
          </a:prstGeom>
          <a:solidFill>
            <a:srgbClr val="C1440E">
              <a:alpha val="30000"/>
            </a:srgbClr>
          </a:solidFill>
          <a:ln w="12700">
            <a:solidFill>
              <a:srgbClr val="C1440E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63840" y="2606040"/>
            <a:ext cx="54864" cy="54864"/>
          </a:xfrm>
          <a:prstGeom prst="ellipse">
            <a:avLst/>
          </a:prstGeom>
          <a:solidFill>
            <a:srgbClr val="C1440E">
              <a:alpha val="30000"/>
            </a:srgbClr>
          </a:solidFill>
          <a:ln w="12700">
            <a:solidFill>
              <a:srgbClr val="C1440E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21040" y="2606040"/>
            <a:ext cx="54864" cy="54864"/>
          </a:xfrm>
          <a:prstGeom prst="ellipse">
            <a:avLst/>
          </a:prstGeom>
          <a:solidFill>
            <a:srgbClr val="C1440E">
              <a:alpha val="30000"/>
            </a:srgbClr>
          </a:solidFill>
          <a:ln w="12700">
            <a:solidFill>
              <a:srgbClr val="C1440E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78240" y="2606040"/>
            <a:ext cx="54864" cy="54864"/>
          </a:xfrm>
          <a:prstGeom prst="ellipse">
            <a:avLst/>
          </a:prstGeom>
          <a:solidFill>
            <a:srgbClr val="C1440E">
              <a:alpha val="30000"/>
            </a:srgbClr>
          </a:solidFill>
          <a:ln w="12700">
            <a:solidFill>
              <a:srgbClr val="C1440E">
                <a:alpha val="3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577840" y="3383280"/>
            <a:ext cx="54864" cy="54864"/>
          </a:xfrm>
          <a:prstGeom prst="ellipse">
            <a:avLst/>
          </a:prstGeom>
          <a:solidFill>
            <a:srgbClr val="C1440E">
              <a:alpha val="30000"/>
            </a:srgbClr>
          </a:solidFill>
          <a:ln w="12700">
            <a:solidFill>
              <a:srgbClr val="C1440E">
                <a:alpha val="3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35040" y="3383280"/>
            <a:ext cx="54864" cy="54864"/>
          </a:xfrm>
          <a:prstGeom prst="ellipse">
            <a:avLst/>
          </a:prstGeom>
          <a:solidFill>
            <a:srgbClr val="C1440E">
              <a:alpha val="30000"/>
            </a:srgbClr>
          </a:solidFill>
          <a:ln w="12700">
            <a:solidFill>
              <a:srgbClr val="C1440E">
                <a:alpha val="3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92240" y="3383280"/>
            <a:ext cx="54864" cy="54864"/>
          </a:xfrm>
          <a:prstGeom prst="ellipse">
            <a:avLst/>
          </a:prstGeom>
          <a:solidFill>
            <a:srgbClr val="C1440E">
              <a:alpha val="30000"/>
            </a:srgbClr>
          </a:solidFill>
          <a:ln w="12700">
            <a:solidFill>
              <a:srgbClr val="C1440E">
                <a:alpha val="3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49440" y="3383280"/>
            <a:ext cx="54864" cy="54864"/>
          </a:xfrm>
          <a:prstGeom prst="ellipse">
            <a:avLst/>
          </a:prstGeom>
          <a:solidFill>
            <a:srgbClr val="C1440E">
              <a:alpha val="30000"/>
            </a:srgbClr>
          </a:solidFill>
          <a:ln w="12700">
            <a:solidFill>
              <a:srgbClr val="C1440E">
                <a:alpha val="3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06640" y="3383280"/>
            <a:ext cx="54864" cy="54864"/>
          </a:xfrm>
          <a:prstGeom prst="ellipse">
            <a:avLst/>
          </a:prstGeom>
          <a:solidFill>
            <a:srgbClr val="C1440E">
              <a:alpha val="30000"/>
            </a:srgbClr>
          </a:solidFill>
          <a:ln w="12700">
            <a:solidFill>
              <a:srgbClr val="C1440E">
                <a:alpha val="3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863840" y="3383280"/>
            <a:ext cx="54864" cy="54864"/>
          </a:xfrm>
          <a:prstGeom prst="ellipse">
            <a:avLst/>
          </a:prstGeom>
          <a:solidFill>
            <a:srgbClr val="C1440E">
              <a:alpha val="30000"/>
            </a:srgbClr>
          </a:solidFill>
          <a:ln w="12700">
            <a:solidFill>
              <a:srgbClr val="C1440E">
                <a:alpha val="3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321040" y="3383280"/>
            <a:ext cx="54864" cy="54864"/>
          </a:xfrm>
          <a:prstGeom prst="ellipse">
            <a:avLst/>
          </a:prstGeom>
          <a:solidFill>
            <a:srgbClr val="C1440E">
              <a:alpha val="30000"/>
            </a:srgbClr>
          </a:solidFill>
          <a:ln w="12700">
            <a:solidFill>
              <a:srgbClr val="C1440E">
                <a:alpha val="3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778240" y="3383280"/>
            <a:ext cx="54864" cy="54864"/>
          </a:xfrm>
          <a:prstGeom prst="ellipse">
            <a:avLst/>
          </a:prstGeom>
          <a:solidFill>
            <a:srgbClr val="C1440E">
              <a:alpha val="30000"/>
            </a:srgbClr>
          </a:solidFill>
          <a:ln w="12700">
            <a:solidFill>
              <a:srgbClr val="C1440E">
                <a:alpha val="3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577840" y="4160520"/>
            <a:ext cx="54864" cy="54864"/>
          </a:xfrm>
          <a:prstGeom prst="ellipse">
            <a:avLst/>
          </a:prstGeom>
          <a:solidFill>
            <a:srgbClr val="C1440E">
              <a:alpha val="30000"/>
            </a:srgbClr>
          </a:solidFill>
          <a:ln w="12700">
            <a:solidFill>
              <a:srgbClr val="C1440E">
                <a:alpha val="3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4160520"/>
            <a:ext cx="54864" cy="54864"/>
          </a:xfrm>
          <a:prstGeom prst="ellipse">
            <a:avLst/>
          </a:prstGeom>
          <a:solidFill>
            <a:srgbClr val="C1440E">
              <a:alpha val="30000"/>
            </a:srgbClr>
          </a:solidFill>
          <a:ln w="12700">
            <a:solidFill>
              <a:srgbClr val="C1440E">
                <a:alpha val="3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92240" y="4160520"/>
            <a:ext cx="54864" cy="54864"/>
          </a:xfrm>
          <a:prstGeom prst="ellipse">
            <a:avLst/>
          </a:prstGeom>
          <a:solidFill>
            <a:srgbClr val="C1440E">
              <a:alpha val="30000"/>
            </a:srgbClr>
          </a:solidFill>
          <a:ln w="12700">
            <a:solidFill>
              <a:srgbClr val="C1440E">
                <a:alpha val="3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949440" y="4160520"/>
            <a:ext cx="54864" cy="54864"/>
          </a:xfrm>
          <a:prstGeom prst="ellipse">
            <a:avLst/>
          </a:prstGeom>
          <a:solidFill>
            <a:srgbClr val="C1440E">
              <a:alpha val="30000"/>
            </a:srgbClr>
          </a:solidFill>
          <a:ln w="12700">
            <a:solidFill>
              <a:srgbClr val="C1440E">
                <a:alpha val="3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406640" y="4160520"/>
            <a:ext cx="54864" cy="54864"/>
          </a:xfrm>
          <a:prstGeom prst="ellipse">
            <a:avLst/>
          </a:prstGeom>
          <a:solidFill>
            <a:srgbClr val="C1440E">
              <a:alpha val="30000"/>
            </a:srgbClr>
          </a:solidFill>
          <a:ln w="12700">
            <a:solidFill>
              <a:srgbClr val="C1440E">
                <a:alpha val="3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863840" y="4160520"/>
            <a:ext cx="54864" cy="54864"/>
          </a:xfrm>
          <a:prstGeom prst="ellipse">
            <a:avLst/>
          </a:prstGeom>
          <a:solidFill>
            <a:srgbClr val="C1440E">
              <a:alpha val="30000"/>
            </a:srgbClr>
          </a:solidFill>
          <a:ln w="12700">
            <a:solidFill>
              <a:srgbClr val="C1440E">
                <a:alpha val="3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321040" y="4160520"/>
            <a:ext cx="54864" cy="54864"/>
          </a:xfrm>
          <a:prstGeom prst="ellipse">
            <a:avLst/>
          </a:prstGeom>
          <a:solidFill>
            <a:srgbClr val="C1440E">
              <a:alpha val="30000"/>
            </a:srgbClr>
          </a:solidFill>
          <a:ln w="12700">
            <a:solidFill>
              <a:srgbClr val="C1440E">
                <a:alpha val="3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778240" y="4160520"/>
            <a:ext cx="54864" cy="54864"/>
          </a:xfrm>
          <a:prstGeom prst="ellipse">
            <a:avLst/>
          </a:prstGeom>
          <a:solidFill>
            <a:srgbClr val="C1440E">
              <a:alpha val="30000"/>
            </a:srgbClr>
          </a:solidFill>
          <a:ln w="12700">
            <a:solidFill>
              <a:srgbClr val="C1440E">
                <a:alpha val="30000"/>
              </a:srgbClr>
            </a:solidFill>
            <a:prstDash val="solid"/>
          </a:ln>
        </p:spPr>
      </p:sp>
      <p:pic>
        <p:nvPicPr>
          <p:cNvPr id="52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6217920" y="1097280"/>
            <a:ext cx="2194560" cy="2194560"/>
          </a:xfrm>
          <a:prstGeom prst="rect">
            <a:avLst/>
          </a:prstGeom>
        </p:spPr>
      </p:pic>
      <p:sp>
        <p:nvSpPr>
          <p:cNvPr id="53" name="Text 50"/>
          <p:cNvSpPr/>
          <p:nvPr/>
        </p:nvSpPr>
        <p:spPr>
          <a:xfrm>
            <a:off x="274320" y="640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1440E"/>
                </a:solidFill>
              </a:rPr>
              <a:t>DATA ANALYTICS PROJECT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274320" y="10972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SKYCONNECT</a:t>
            </a:r>
            <a:endParaRPr lang="en-US" sz="5200" dirty="0"/>
          </a:p>
        </p:txBody>
      </p:sp>
      <p:sp>
        <p:nvSpPr>
          <p:cNvPr id="55" name="Text 52"/>
          <p:cNvSpPr/>
          <p:nvPr/>
        </p:nvSpPr>
        <p:spPr>
          <a:xfrm>
            <a:off x="274320" y="192024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OF AIRLINES</a:t>
            </a:r>
            <a:endParaRPr lang="en-US" sz="2200" dirty="0"/>
          </a:p>
        </p:txBody>
      </p:sp>
      <p:sp>
        <p:nvSpPr>
          <p:cNvPr id="56" name="Shape 53"/>
          <p:cNvSpPr/>
          <p:nvPr/>
        </p:nvSpPr>
        <p:spPr>
          <a:xfrm>
            <a:off x="274320" y="3154680"/>
            <a:ext cx="3200400" cy="36576"/>
          </a:xfrm>
          <a:prstGeom prst="rect">
            <a:avLst/>
          </a:prstGeom>
          <a:solidFill>
            <a:srgbClr val="C1440E"/>
          </a:solidFill>
          <a:ln/>
        </p:spPr>
      </p:sp>
      <p:sp>
        <p:nvSpPr>
          <p:cNvPr id="57" name="Text 54"/>
          <p:cNvSpPr/>
          <p:nvPr/>
        </p:nvSpPr>
        <p:spPr>
          <a:xfrm>
            <a:off x="274320" y="32918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9880"/>
                </a:solidFill>
              </a:rPr>
              <a:t>Cleared for Takeoff: A Data-Driven Analysis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A89880"/>
                </a:solidFill>
              </a:rPr>
              <a:t>of Flight Performance, Revenue &amp; Operations (2022–2024)</a:t>
            </a:r>
            <a:endParaRPr lang="en-US" sz="1100" dirty="0"/>
          </a:p>
        </p:txBody>
      </p:sp>
      <p:sp>
        <p:nvSpPr>
          <p:cNvPr id="58" name="Text 55"/>
          <p:cNvSpPr/>
          <p:nvPr/>
        </p:nvSpPr>
        <p:spPr>
          <a:xfrm>
            <a:off x="274320" y="44805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9880"/>
                </a:solidFill>
              </a:rPr>
              <a:t>Prepared by: Data Analytics Trainees (Tech Studio Academy) — APRIL 2026 |  Lagos, Nigeria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1440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 &amp; ROLES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3480500" cy="1554480"/>
          </a:xfrm>
          <a:prstGeom prst="rect">
            <a:avLst/>
          </a:prstGeom>
          <a:solidFill>
            <a:srgbClr val="1E1E1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914400"/>
            <a:ext cx="3491012" cy="85029"/>
          </a:xfrm>
          <a:prstGeom prst="rect">
            <a:avLst/>
          </a:prstGeom>
          <a:solidFill>
            <a:srgbClr val="C1440E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906" y="10972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4652" y="1024128"/>
            <a:ext cx="2888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1440E"/>
                </a:solidFill>
              </a:rPr>
              <a:t>MySQL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97280" y="1353312"/>
            <a:ext cx="28861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9880"/>
                </a:solidFill>
              </a:rPr>
              <a:t>Data Cleaning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97280" y="1508760"/>
            <a:ext cx="2602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Deduplication, joins,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transformations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389180" y="914400"/>
            <a:ext cx="3480500" cy="1554480"/>
          </a:xfrm>
          <a:prstGeom prst="rect">
            <a:avLst/>
          </a:prstGeom>
          <a:solidFill>
            <a:srgbClr val="1E1E1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389180" y="905256"/>
            <a:ext cx="3467362" cy="73152"/>
          </a:xfrm>
          <a:prstGeom prst="rect">
            <a:avLst/>
          </a:prstGeom>
          <a:solidFill>
            <a:srgbClr val="F2C94C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7916" y="109728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032412" y="978408"/>
            <a:ext cx="282413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C94C"/>
                </a:solidFill>
              </a:rPr>
              <a:t>Power BI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032412" y="1316736"/>
            <a:ext cx="282413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9880"/>
                </a:solidFill>
              </a:rPr>
              <a:t>Visualisation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6032412" y="1508760"/>
            <a:ext cx="2471507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KPI cards, charts,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slicers &amp; dashboards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6172200" y="1737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502920" y="2677615"/>
            <a:ext cx="4114800" cy="1554480"/>
          </a:xfrm>
          <a:prstGeom prst="rect">
            <a:avLst/>
          </a:prstGeom>
          <a:solidFill>
            <a:srgbClr val="1E1E1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02920" y="2697480"/>
            <a:ext cx="4114800" cy="64008"/>
          </a:xfrm>
          <a:prstGeom prst="rect">
            <a:avLst/>
          </a:prstGeom>
          <a:solidFill>
            <a:srgbClr val="D4845A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88036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97280" y="28072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845A"/>
                </a:solidFill>
              </a:rPr>
              <a:t>Word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1097280" y="31363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9880"/>
                </a:solidFill>
              </a:rPr>
              <a:t>Documentation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1097280" y="3331149"/>
            <a:ext cx="3383279" cy="463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Report authoring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&amp; analysis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4754880" y="2697480"/>
            <a:ext cx="4114800" cy="1554480"/>
          </a:xfrm>
          <a:prstGeom prst="rect">
            <a:avLst/>
          </a:prstGeom>
          <a:solidFill>
            <a:srgbClr val="1E1E1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754880" y="2697480"/>
            <a:ext cx="4114800" cy="64008"/>
          </a:xfrm>
          <a:prstGeom prst="rect">
            <a:avLst/>
          </a:prstGeom>
          <a:solidFill>
            <a:srgbClr val="D4922A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2880360"/>
            <a:ext cx="365760" cy="3657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349240" y="28072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922A"/>
                </a:solidFill>
              </a:rPr>
              <a:t>PowerPoint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5349240" y="31363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9880"/>
                </a:solidFill>
              </a:rPr>
              <a:t>Presentation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5349240" y="33375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Stakeholder summary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&amp; slides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6" name="Text 29"/>
          <p:cNvSpPr/>
          <p:nvPr/>
        </p:nvSpPr>
        <p:spPr>
          <a:xfrm>
            <a:off x="27432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9880"/>
                </a:solidFill>
              </a:rPr>
              <a:t>SkyConnect  •  Performance Dashboard 2022–2024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1440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651760" cy="1371600"/>
          </a:xfrm>
          <a:prstGeom prst="rect">
            <a:avLst/>
          </a:prstGeom>
          <a:solidFill>
            <a:srgbClr val="1E1E1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2651760" cy="73152"/>
          </a:xfrm>
          <a:prstGeom prst="rect">
            <a:avLst/>
          </a:prstGeom>
          <a:solidFill>
            <a:srgbClr val="C1440E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0515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11480" y="1691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9880"/>
                </a:solidFill>
              </a:rPr>
              <a:t>Total Flights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54680" y="914400"/>
            <a:ext cx="2651760" cy="1371600"/>
          </a:xfrm>
          <a:prstGeom prst="rect">
            <a:avLst/>
          </a:prstGeom>
          <a:solidFill>
            <a:srgbClr val="1E1E1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914400"/>
            <a:ext cx="2651760" cy="73152"/>
          </a:xfrm>
          <a:prstGeom prst="rect">
            <a:avLst/>
          </a:prstGeom>
          <a:solidFill>
            <a:srgbClr val="F2C94C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0515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291840" y="1691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9880"/>
                </a:solidFill>
              </a:rPr>
              <a:t>Passengers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914400"/>
            <a:ext cx="2651760" cy="1371600"/>
          </a:xfrm>
          <a:prstGeom prst="rect">
            <a:avLst/>
          </a:prstGeom>
          <a:solidFill>
            <a:srgbClr val="1E1E1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914400"/>
            <a:ext cx="2651760" cy="73152"/>
          </a:xfrm>
          <a:prstGeom prst="rect">
            <a:avLst/>
          </a:prstGeom>
          <a:solidFill>
            <a:srgbClr val="7DA87B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10515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7DA8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590M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172200" y="1691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9880"/>
                </a:solidFill>
              </a:rPr>
              <a:t>Total Revenue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560320"/>
            <a:ext cx="2651760" cy="1371600"/>
          </a:xfrm>
          <a:prstGeom prst="rect">
            <a:avLst/>
          </a:prstGeom>
          <a:solidFill>
            <a:srgbClr val="1E1E1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560320"/>
            <a:ext cx="2651760" cy="73152"/>
          </a:xfrm>
          <a:prstGeom prst="rect">
            <a:avLst/>
          </a:prstGeom>
          <a:solidFill>
            <a:srgbClr val="D4845A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2697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48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136M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11480" y="3337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9880"/>
                </a:solidFill>
              </a:rPr>
              <a:t>Total Profit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154680" y="2560320"/>
            <a:ext cx="2651760" cy="1371600"/>
          </a:xfrm>
          <a:prstGeom prst="rect">
            <a:avLst/>
          </a:prstGeom>
          <a:solidFill>
            <a:srgbClr val="1E1E1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54680" y="2560320"/>
            <a:ext cx="2651760" cy="73152"/>
          </a:xfrm>
          <a:prstGeom prst="rect">
            <a:avLst/>
          </a:prstGeom>
          <a:solidFill>
            <a:srgbClr val="C1440E"/>
          </a:solidFill>
          <a:ln/>
        </p:spPr>
      </p:sp>
      <p:sp>
        <p:nvSpPr>
          <p:cNvPr id="23" name="Text 21"/>
          <p:cNvSpPr/>
          <p:nvPr/>
        </p:nvSpPr>
        <p:spPr>
          <a:xfrm>
            <a:off x="3291840" y="2697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3291840" y="3337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9880"/>
                </a:solidFill>
              </a:rPr>
              <a:t>On-Time Rate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35040" y="2560320"/>
            <a:ext cx="2651760" cy="1371600"/>
          </a:xfrm>
          <a:prstGeom prst="rect">
            <a:avLst/>
          </a:prstGeom>
          <a:solidFill>
            <a:srgbClr val="1E1E1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35040" y="2560320"/>
            <a:ext cx="2651760" cy="73152"/>
          </a:xfrm>
          <a:prstGeom prst="rect">
            <a:avLst/>
          </a:prstGeom>
          <a:solidFill>
            <a:srgbClr val="D4922A"/>
          </a:solidFill>
          <a:ln/>
        </p:spPr>
      </p:sp>
      <p:sp>
        <p:nvSpPr>
          <p:cNvPr id="27" name="Text 25"/>
          <p:cNvSpPr/>
          <p:nvPr/>
        </p:nvSpPr>
        <p:spPr>
          <a:xfrm>
            <a:off x="6172200" y="2697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4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2022–2024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6172200" y="3337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9880"/>
                </a:solidFill>
              </a:rPr>
              <a:t>Analysis Period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9880"/>
                </a:solidFill>
              </a:rPr>
              <a:t>SkyConnect  •  Performance Dashboard 2022–2024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922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 &amp; KEY QUESTIONS  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3840480" cy="393192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14400"/>
            <a:ext cx="64008" cy="3931920"/>
          </a:xfrm>
          <a:prstGeom prst="rect">
            <a:avLst/>
          </a:prstGeom>
          <a:solidFill>
            <a:srgbClr val="D4922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4922A"/>
                </a:solidFill>
              </a:rPr>
              <a:t>CONTEXT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3566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50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US" sz="1100" b="1" dirty="0">
                <a:solidFill>
                  <a:srgbClr val="D4922A"/>
                </a:solidFill>
              </a:rPr>
              <a:t>  </a:t>
            </a:r>
            <a:r>
              <a:rPr lang="en-US" sz="1100" dirty="0" err="1">
                <a:solidFill>
                  <a:srgbClr val="FFFFFF"/>
                </a:solidFill>
              </a:rPr>
              <a:t>SkyConnect</a:t>
            </a:r>
            <a:r>
              <a:rPr lang="en-US" sz="1100" dirty="0">
                <a:solidFill>
                  <a:srgbClr val="FFFFFF"/>
                </a:solidFill>
              </a:rPr>
              <a:t> Group of Airlines operates a multi-route network across key African hubs . (Lagos, Nairobi, Cairo, </a:t>
            </a:r>
            <a:r>
              <a:rPr lang="en-US" sz="1100" dirty="0">
                <a:solidFill>
                  <a:schemeClr val="bg1"/>
                </a:solidFill>
              </a:rPr>
              <a:t>Dakar</a:t>
            </a:r>
            <a:r>
              <a:rPr lang="en-US" sz="1100" dirty="0">
                <a:solidFill>
                  <a:srgbClr val="FFFFFF"/>
                </a:solidFill>
              </a:rPr>
              <a:t>, etc.)            </a:t>
            </a:r>
            <a:endParaRPr lang="en-US" sz="1200" dirty="0"/>
          </a:p>
          <a:p>
            <a:pPr marL="228600" indent="-228600">
              <a:lnSpc>
                <a:spcPct val="150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US" sz="1100" dirty="0">
                <a:solidFill>
                  <a:srgbClr val="FFFFFF"/>
                </a:solidFill>
              </a:rPr>
              <a:t>While the airline generates strong revenue, the performance  varies significantly across routes and time periods</a:t>
            </a:r>
          </a:p>
          <a:p>
            <a:pPr marL="228600" indent="-228600">
              <a:lnSpc>
                <a:spcPct val="150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US" sz="1100" dirty="0">
                <a:solidFill>
                  <a:srgbClr val="FFFFFF"/>
                </a:solidFill>
              </a:rPr>
              <a:t>We also identified that a high incidence of delays and cancellations is affecting operational reliability</a:t>
            </a:r>
          </a:p>
          <a:p>
            <a:pPr marL="228600" indent="-228600">
              <a:lnSpc>
                <a:spcPct val="150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US" sz="1100" dirty="0">
                <a:solidFill>
                  <a:srgbClr val="FFFFFF"/>
                </a:solidFill>
              </a:rPr>
              <a:t>Customer segments (Loyalty Status &amp; Seat Class) are not evenly contributing to revenue </a:t>
            </a:r>
            <a:endParaRPr lang="en-US" sz="1200" dirty="0"/>
          </a:p>
          <a:p>
            <a:pPr marL="228600" indent="-228600">
              <a:lnSpc>
                <a:spcPct val="150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US" sz="1100" dirty="0">
                <a:solidFill>
                  <a:srgbClr val="FFFFFF"/>
                </a:solidFill>
              </a:rPr>
              <a:t>Management lacks a unified, data-driven view of performance across operations 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914400"/>
            <a:ext cx="4297680" cy="393192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914400"/>
            <a:ext cx="64008" cy="3931920"/>
          </a:xfrm>
          <a:prstGeom prst="rect">
            <a:avLst/>
          </a:prstGeom>
          <a:solidFill>
            <a:srgbClr val="C1440E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005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1440E"/>
                </a:solidFill>
              </a:rPr>
              <a:t>KEY QUESTIONS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1508760"/>
            <a:ext cx="411480" cy="411480"/>
          </a:xfrm>
          <a:prstGeom prst="ellipse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49240" y="15087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What is driving operational inefficiencies and delay patterns across routes and airlines?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2514600"/>
            <a:ext cx="411480" cy="411480"/>
          </a:xfrm>
          <a:prstGeom prst="ellipse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514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49240" y="25146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Which routes, customers, and seat classes generate the most value – and are they being optimized?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3520440"/>
            <a:ext cx="411480" cy="411480"/>
          </a:xfrm>
          <a:prstGeom prst="ellipse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3520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49240" y="35204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How can </a:t>
            </a:r>
            <a:r>
              <a:rPr lang="en-US" sz="1100" dirty="0" err="1">
                <a:solidFill>
                  <a:srgbClr val="FFFFFF"/>
                </a:solidFill>
              </a:rPr>
              <a:t>SkyConnect</a:t>
            </a:r>
            <a:r>
              <a:rPr lang="en-US" sz="1100" dirty="0">
                <a:solidFill>
                  <a:srgbClr val="FFFFFF"/>
                </a:solidFill>
              </a:rPr>
              <a:t> Group of Airlines improve performance while sustaining revenue growth and customer satisfaction?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9880"/>
                </a:solidFill>
              </a:rPr>
              <a:t>SkyConnect  •  Performance Dashboard 2022–2024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1440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2022–2024 PERFORMANCE OVERVIEW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1592540608"/>
              </p:ext>
            </p:extLst>
          </p:nvPr>
        </p:nvGraphicFramePr>
        <p:xfrm>
          <a:off x="274320" y="914400"/>
          <a:ext cx="50292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914400"/>
            <a:ext cx="3291840" cy="822960"/>
          </a:xfrm>
          <a:prstGeom prst="rect">
            <a:avLst/>
          </a:prstGeom>
          <a:solidFill>
            <a:srgbClr val="1E1E1E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577840" y="914400"/>
            <a:ext cx="54864" cy="822960"/>
          </a:xfrm>
          <a:prstGeom prst="rect">
            <a:avLst/>
          </a:prstGeom>
          <a:solidFill>
            <a:srgbClr val="C1440E"/>
          </a:solidFill>
          <a:ln/>
        </p:spPr>
      </p:sp>
      <p:sp>
        <p:nvSpPr>
          <p:cNvPr id="8" name="Text 5"/>
          <p:cNvSpPr/>
          <p:nvPr/>
        </p:nvSpPr>
        <p:spPr>
          <a:xfrm>
            <a:off x="5760720" y="9875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1440E"/>
                </a:solidFill>
              </a:rPr>
              <a:t>$68M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086600" y="9875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2022 Revenue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086600" y="12618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89880"/>
                </a:solidFill>
              </a:rPr>
              <a:t>Baseline year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577840" y="1874520"/>
            <a:ext cx="3291840" cy="822960"/>
          </a:xfrm>
          <a:prstGeom prst="rect">
            <a:avLst/>
          </a:prstGeom>
          <a:solidFill>
            <a:srgbClr val="1E1E1E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577840" y="1874520"/>
            <a:ext cx="54864" cy="822960"/>
          </a:xfrm>
          <a:prstGeom prst="rect">
            <a:avLst/>
          </a:prstGeom>
          <a:solidFill>
            <a:srgbClr val="F2C94C"/>
          </a:solidFill>
          <a:ln/>
        </p:spPr>
      </p:sp>
      <p:sp>
        <p:nvSpPr>
          <p:cNvPr id="13" name="Text 10"/>
          <p:cNvSpPr/>
          <p:nvPr/>
        </p:nvSpPr>
        <p:spPr>
          <a:xfrm>
            <a:off x="5760720" y="19476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C94C"/>
                </a:solidFill>
              </a:rPr>
              <a:t>$272M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086600" y="19476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2023 Revenue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086600" y="22219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89880"/>
                </a:solidFill>
              </a:rPr>
              <a:t>+300% growth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577840" y="2834640"/>
            <a:ext cx="3291840" cy="822960"/>
          </a:xfrm>
          <a:prstGeom prst="rect">
            <a:avLst/>
          </a:prstGeom>
          <a:solidFill>
            <a:srgbClr val="1E1E1E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577840" y="2834640"/>
            <a:ext cx="54864" cy="822960"/>
          </a:xfrm>
          <a:prstGeom prst="rect">
            <a:avLst/>
          </a:prstGeom>
          <a:solidFill>
            <a:srgbClr val="C84B2E"/>
          </a:solidFill>
          <a:ln/>
        </p:spPr>
      </p:sp>
      <p:sp>
        <p:nvSpPr>
          <p:cNvPr id="18" name="Text 15"/>
          <p:cNvSpPr/>
          <p:nvPr/>
        </p:nvSpPr>
        <p:spPr>
          <a:xfrm>
            <a:off x="5760720" y="290779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4B2E"/>
                </a:solidFill>
              </a:rPr>
              <a:t>$250M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7086600" y="29077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2024 Revenue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086600" y="31821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89880"/>
                </a:solidFill>
              </a:rPr>
              <a:t>−8% decline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577840" y="3794760"/>
            <a:ext cx="3291840" cy="822960"/>
          </a:xfrm>
          <a:prstGeom prst="rect">
            <a:avLst/>
          </a:prstGeom>
          <a:solidFill>
            <a:srgbClr val="1E1E1E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577840" y="3794760"/>
            <a:ext cx="54864" cy="822960"/>
          </a:xfrm>
          <a:prstGeom prst="rect">
            <a:avLst/>
          </a:prstGeom>
          <a:solidFill>
            <a:srgbClr val="D4845A"/>
          </a:solidFill>
          <a:ln/>
        </p:spPr>
      </p:sp>
      <p:sp>
        <p:nvSpPr>
          <p:cNvPr id="23" name="Text 20"/>
          <p:cNvSpPr/>
          <p:nvPr/>
        </p:nvSpPr>
        <p:spPr>
          <a:xfrm>
            <a:off x="5760720" y="386791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845A"/>
                </a:solidFill>
              </a:rPr>
              <a:t>23%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7086600" y="38679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Profit Margin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086600" y="41422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89880"/>
                </a:solidFill>
              </a:rPr>
              <a:t>Below 25-30% avg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27" name="Text 24"/>
          <p:cNvSpPr/>
          <p:nvPr/>
        </p:nvSpPr>
        <p:spPr>
          <a:xfrm>
            <a:off x="27432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9880"/>
                </a:solidFill>
              </a:rPr>
              <a:t>SkyConnect  •  Performance Dashboard 2022–2024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1440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REVENUE ROUTES &amp; AIRLINES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421580192"/>
              </p:ext>
            </p:extLst>
          </p:nvPr>
        </p:nvGraphicFramePr>
        <p:xfrm>
          <a:off x="274320" y="914400"/>
          <a:ext cx="420624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>
            <p:extLst>
              <p:ext uri="{D42A27DB-BD31-4B8C-83A1-F6EECF244321}">
                <p14:modId xmlns:p14="http://schemas.microsoft.com/office/powerpoint/2010/main" val="2201565197"/>
              </p:ext>
            </p:extLst>
          </p:nvPr>
        </p:nvGraphicFramePr>
        <p:xfrm>
          <a:off x="4754880" y="914400"/>
          <a:ext cx="41148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8" name="Text 4"/>
          <p:cNvSpPr/>
          <p:nvPr/>
        </p:nvSpPr>
        <p:spPr>
          <a:xfrm>
            <a:off x="27432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9880"/>
                </a:solidFill>
              </a:rPr>
              <a:t>SkyConnect  •  Performance Dashboard 2022–2024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4B2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PERFORMANCE &amp; DELAYS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1920240" cy="914400"/>
          </a:xfrm>
          <a:prstGeom prst="rect">
            <a:avLst/>
          </a:prstGeom>
          <a:solidFill>
            <a:srgbClr val="1E1E1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1920240" cy="64008"/>
          </a:xfrm>
          <a:prstGeom prst="rect">
            <a:avLst/>
          </a:prstGeom>
          <a:solidFill>
            <a:srgbClr val="C84B2E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241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84B2E"/>
                </a:solidFill>
              </a:rPr>
              <a:t>241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9880"/>
                </a:solidFill>
              </a:rPr>
              <a:t>Delayed Flights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50592" y="914400"/>
            <a:ext cx="1920240" cy="914400"/>
          </a:xfrm>
          <a:prstGeom prst="rect">
            <a:avLst/>
          </a:prstGeom>
          <a:solidFill>
            <a:srgbClr val="1E1E1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50592" y="914400"/>
            <a:ext cx="1920240" cy="64008"/>
          </a:xfrm>
          <a:prstGeom prst="rect">
            <a:avLst/>
          </a:prstGeom>
          <a:solidFill>
            <a:srgbClr val="D4922A"/>
          </a:solidFill>
          <a:ln/>
        </p:spPr>
      </p:sp>
      <p:sp>
        <p:nvSpPr>
          <p:cNvPr id="11" name="Text 9"/>
          <p:cNvSpPr/>
          <p:nvPr/>
        </p:nvSpPr>
        <p:spPr>
          <a:xfrm>
            <a:off x="2542032" y="10241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922A"/>
                </a:solidFill>
              </a:rPr>
              <a:t>124 min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542032" y="15087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9880"/>
                </a:solidFill>
              </a:rPr>
              <a:t>Avg Delay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26864" y="914400"/>
            <a:ext cx="1920240" cy="914400"/>
          </a:xfrm>
          <a:prstGeom prst="rect">
            <a:avLst/>
          </a:prstGeom>
          <a:solidFill>
            <a:srgbClr val="1E1E1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26864" y="914400"/>
            <a:ext cx="1920240" cy="64008"/>
          </a:xfrm>
          <a:prstGeom prst="rect">
            <a:avLst/>
          </a:prstGeom>
          <a:solidFill>
            <a:srgbClr val="F2C94C"/>
          </a:solidFill>
          <a:ln/>
        </p:spPr>
      </p:sp>
      <p:sp>
        <p:nvSpPr>
          <p:cNvPr id="15" name="Text 13"/>
          <p:cNvSpPr/>
          <p:nvPr/>
        </p:nvSpPr>
        <p:spPr>
          <a:xfrm>
            <a:off x="4718304" y="10241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C94C"/>
                </a:solidFill>
              </a:rPr>
              <a:t>33%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718304" y="15087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9880"/>
                </a:solidFill>
              </a:rPr>
              <a:t>Delay Rate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03136" y="914400"/>
            <a:ext cx="1920240" cy="914400"/>
          </a:xfrm>
          <a:prstGeom prst="rect">
            <a:avLst/>
          </a:prstGeom>
          <a:solidFill>
            <a:srgbClr val="1E1E1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03136" y="914400"/>
            <a:ext cx="1920240" cy="64008"/>
          </a:xfrm>
          <a:prstGeom prst="rect">
            <a:avLst/>
          </a:prstGeom>
          <a:solidFill>
            <a:srgbClr val="C84B2E"/>
          </a:solidFill>
          <a:ln/>
        </p:spPr>
      </p:sp>
      <p:sp>
        <p:nvSpPr>
          <p:cNvPr id="19" name="Text 17"/>
          <p:cNvSpPr/>
          <p:nvPr/>
        </p:nvSpPr>
        <p:spPr>
          <a:xfrm>
            <a:off x="6894576" y="10241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84B2E"/>
                </a:solidFill>
              </a:rPr>
              <a:t>76.8%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894576" y="15087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9880"/>
                </a:solidFill>
              </a:rPr>
              <a:t>Severe Delays</a:t>
            </a:r>
            <a:endParaRPr lang="en-US" sz="1000" dirty="0"/>
          </a:p>
        </p:txBody>
      </p:sp>
      <p:graphicFrame>
        <p:nvGraphicFramePr>
          <p:cNvPr id="21" name="Chart 0"/>
          <p:cNvGraphicFramePr/>
          <p:nvPr>
            <p:extLst>
              <p:ext uri="{D42A27DB-BD31-4B8C-83A1-F6EECF244321}">
                <p14:modId xmlns:p14="http://schemas.microsoft.com/office/powerpoint/2010/main" val="1198338501"/>
              </p:ext>
            </p:extLst>
          </p:nvPr>
        </p:nvGraphicFramePr>
        <p:xfrm>
          <a:off x="274320" y="2011680"/>
          <a:ext cx="530352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2" name="Chart 1"/>
          <p:cNvGraphicFramePr/>
          <p:nvPr>
            <p:extLst>
              <p:ext uri="{D42A27DB-BD31-4B8C-83A1-F6EECF244321}">
                <p14:modId xmlns:p14="http://schemas.microsoft.com/office/powerpoint/2010/main" val="3763293429"/>
              </p:ext>
            </p:extLst>
          </p:nvPr>
        </p:nvGraphicFramePr>
        <p:xfrm>
          <a:off x="5669280" y="2011680"/>
          <a:ext cx="320040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24" name="Text 20"/>
          <p:cNvSpPr/>
          <p:nvPr/>
        </p:nvSpPr>
        <p:spPr>
          <a:xfrm>
            <a:off x="27432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9880"/>
                </a:solidFill>
              </a:rPr>
              <a:t>SkyConnect  •  Performance Dashboard 2022–2024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2C94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BEHAVIOUR INSIGHTS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1234440" cy="731520"/>
          </a:xfrm>
          <a:prstGeom prst="rect">
            <a:avLst/>
          </a:prstGeom>
          <a:solidFill>
            <a:srgbClr val="1E1E1E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86800" y="923544"/>
            <a:ext cx="1226954" cy="86868"/>
          </a:xfrm>
          <a:prstGeom prst="rect">
            <a:avLst/>
          </a:prstGeom>
          <a:solidFill>
            <a:srgbClr val="C1440E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87552"/>
            <a:ext cx="122130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1440E"/>
                </a:solidFill>
              </a:rPr>
              <a:t>1,200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380744"/>
            <a:ext cx="12213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9880"/>
                </a:solidFill>
              </a:rPr>
              <a:t>Total Bookings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23412" y="935104"/>
            <a:ext cx="1112256" cy="731520"/>
          </a:xfrm>
          <a:prstGeom prst="rect">
            <a:avLst/>
          </a:prstGeom>
          <a:solidFill>
            <a:srgbClr val="1E1E1E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10932" y="914400"/>
            <a:ext cx="1084800" cy="109728"/>
          </a:xfrm>
          <a:prstGeom prst="rect">
            <a:avLst/>
          </a:prstGeom>
          <a:solidFill>
            <a:srgbClr val="F2C94C"/>
          </a:solidFill>
          <a:ln/>
        </p:spPr>
      </p:sp>
      <p:sp>
        <p:nvSpPr>
          <p:cNvPr id="12" name="Text 10"/>
          <p:cNvSpPr/>
          <p:nvPr/>
        </p:nvSpPr>
        <p:spPr>
          <a:xfrm>
            <a:off x="1907102" y="1472184"/>
            <a:ext cx="90967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9880"/>
                </a:solidFill>
              </a:rPr>
              <a:t>Average Age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72200" y="914400"/>
            <a:ext cx="1064698" cy="731520"/>
          </a:xfrm>
          <a:prstGeom prst="rect">
            <a:avLst/>
          </a:prstGeom>
          <a:solidFill>
            <a:srgbClr val="1E1E1E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914400"/>
            <a:ext cx="1064698" cy="85763"/>
          </a:xfrm>
          <a:prstGeom prst="rect">
            <a:avLst/>
          </a:prstGeom>
          <a:solidFill>
            <a:srgbClr val="D4845A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987552"/>
            <a:ext cx="91545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845A"/>
                </a:solidFill>
              </a:rPr>
              <a:t>15%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126480" y="1472184"/>
            <a:ext cx="91545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9880"/>
                </a:solidFill>
              </a:rPr>
              <a:t>Young Adults</a:t>
            </a:r>
            <a:endParaRPr lang="en-US" sz="1000" dirty="0"/>
          </a:p>
        </p:txBody>
      </p:sp>
      <p:graphicFrame>
        <p:nvGraphicFramePr>
          <p:cNvPr id="17" name="Chart 0"/>
          <p:cNvGraphicFramePr/>
          <p:nvPr>
            <p:extLst>
              <p:ext uri="{D42A27DB-BD31-4B8C-83A1-F6EECF244321}">
                <p14:modId xmlns:p14="http://schemas.microsoft.com/office/powerpoint/2010/main" val="3709847303"/>
              </p:ext>
            </p:extLst>
          </p:nvPr>
        </p:nvGraphicFramePr>
        <p:xfrm>
          <a:off x="274320" y="1828800"/>
          <a:ext cx="41148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8" name="Chart 1"/>
          <p:cNvGraphicFramePr/>
          <p:nvPr>
            <p:extLst>
              <p:ext uri="{D42A27DB-BD31-4B8C-83A1-F6EECF244321}">
                <p14:modId xmlns:p14="http://schemas.microsoft.com/office/powerpoint/2010/main" val="518846005"/>
              </p:ext>
            </p:extLst>
          </p:nvPr>
        </p:nvGraphicFramePr>
        <p:xfrm>
          <a:off x="4754880" y="1828800"/>
          <a:ext cx="41148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20" name="Text 16"/>
          <p:cNvSpPr/>
          <p:nvPr/>
        </p:nvSpPr>
        <p:spPr>
          <a:xfrm>
            <a:off x="27432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9880"/>
                </a:solidFill>
              </a:rPr>
              <a:t>SkyConnect  •  Performance Dashboard 2022–2024</a:t>
            </a:r>
            <a:endParaRPr lang="en-US" sz="900" dirty="0"/>
          </a:p>
        </p:txBody>
      </p:sp>
      <p:sp>
        <p:nvSpPr>
          <p:cNvPr id="21" name="Shape 11">
            <a:extLst>
              <a:ext uri="{FF2B5EF4-FFF2-40B4-BE49-F238E27FC236}">
                <a16:creationId xmlns:a16="http://schemas.microsoft.com/office/drawing/2014/main" id="{C07C22C7-1999-53BE-62BF-DC113CE7341B}"/>
              </a:ext>
            </a:extLst>
          </p:cNvPr>
          <p:cNvSpPr/>
          <p:nvPr/>
        </p:nvSpPr>
        <p:spPr>
          <a:xfrm>
            <a:off x="3231144" y="936524"/>
            <a:ext cx="1112256" cy="731520"/>
          </a:xfrm>
          <a:prstGeom prst="rect">
            <a:avLst/>
          </a:prstGeom>
          <a:solidFill>
            <a:srgbClr val="1E1E1E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471506D0-778D-22B1-9AB0-CBF0AB9055A6}"/>
              </a:ext>
            </a:extLst>
          </p:cNvPr>
          <p:cNvSpPr/>
          <p:nvPr/>
        </p:nvSpPr>
        <p:spPr>
          <a:xfrm>
            <a:off x="4645572" y="918289"/>
            <a:ext cx="1221564" cy="731520"/>
          </a:xfrm>
          <a:prstGeom prst="rect">
            <a:avLst/>
          </a:prstGeom>
          <a:solidFill>
            <a:srgbClr val="1E1E1E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12">
            <a:extLst>
              <a:ext uri="{FF2B5EF4-FFF2-40B4-BE49-F238E27FC236}">
                <a16:creationId xmlns:a16="http://schemas.microsoft.com/office/drawing/2014/main" id="{0C5CEC95-ED30-EF51-9727-D6FE3BE58DC9}"/>
              </a:ext>
            </a:extLst>
          </p:cNvPr>
          <p:cNvSpPr/>
          <p:nvPr/>
        </p:nvSpPr>
        <p:spPr>
          <a:xfrm>
            <a:off x="3231144" y="918289"/>
            <a:ext cx="1084800" cy="105839"/>
          </a:xfrm>
          <a:prstGeom prst="rect">
            <a:avLst/>
          </a:prstGeom>
          <a:solidFill>
            <a:srgbClr val="D4845A"/>
          </a:solidFill>
          <a:ln/>
        </p:spPr>
      </p:sp>
      <p:sp>
        <p:nvSpPr>
          <p:cNvPr id="26" name="Shape 4">
            <a:extLst>
              <a:ext uri="{FF2B5EF4-FFF2-40B4-BE49-F238E27FC236}">
                <a16:creationId xmlns:a16="http://schemas.microsoft.com/office/drawing/2014/main" id="{B8C2C09A-A484-138D-F24D-CC1B34D05EB3}"/>
              </a:ext>
            </a:extLst>
          </p:cNvPr>
          <p:cNvSpPr/>
          <p:nvPr/>
        </p:nvSpPr>
        <p:spPr>
          <a:xfrm>
            <a:off x="4650566" y="914400"/>
            <a:ext cx="1216570" cy="109727"/>
          </a:xfrm>
          <a:prstGeom prst="rect">
            <a:avLst/>
          </a:prstGeom>
          <a:solidFill>
            <a:srgbClr val="C1440E"/>
          </a:solidFill>
          <a:ln/>
        </p:spPr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F56577B-611F-D5DA-FF12-98230FD9090D}"/>
              </a:ext>
            </a:extLst>
          </p:cNvPr>
          <p:cNvSpPr txBox="1"/>
          <p:nvPr/>
        </p:nvSpPr>
        <p:spPr>
          <a:xfrm>
            <a:off x="4754880" y="940148"/>
            <a:ext cx="10258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28%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C2C060B-CF11-A777-64F6-CBDF68B68B31}"/>
              </a:ext>
            </a:extLst>
          </p:cNvPr>
          <p:cNvSpPr txBox="1"/>
          <p:nvPr/>
        </p:nvSpPr>
        <p:spPr>
          <a:xfrm>
            <a:off x="4799154" y="1420403"/>
            <a:ext cx="914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Older Adults </a:t>
            </a:r>
            <a:endParaRPr lang="en-US" sz="10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DE3EF0C-58C0-568E-CAC1-68168599ABC6}"/>
              </a:ext>
            </a:extLst>
          </p:cNvPr>
          <p:cNvSpPr txBox="1"/>
          <p:nvPr/>
        </p:nvSpPr>
        <p:spPr>
          <a:xfrm>
            <a:off x="3316344" y="957281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CC99"/>
                </a:solidFill>
              </a:rPr>
              <a:t>56% 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814901B-5A76-C3C5-C9B0-C8AE6B7919E1}"/>
              </a:ext>
            </a:extLst>
          </p:cNvPr>
          <p:cNvSpPr txBox="1"/>
          <p:nvPr/>
        </p:nvSpPr>
        <p:spPr>
          <a:xfrm>
            <a:off x="3330072" y="1376214"/>
            <a:ext cx="914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FFCC99"/>
                </a:solidFill>
              </a:rPr>
              <a:t>Middle-Aged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8FADEFB-DB3D-06CC-5042-AD9A4E5657FE}"/>
              </a:ext>
            </a:extLst>
          </p:cNvPr>
          <p:cNvSpPr txBox="1"/>
          <p:nvPr/>
        </p:nvSpPr>
        <p:spPr>
          <a:xfrm>
            <a:off x="1901713" y="949191"/>
            <a:ext cx="976679" cy="4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C000"/>
                </a:solidFill>
              </a:rPr>
              <a:t>44 yrs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922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PROGRAMME EFFECTIVENESS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2682088660"/>
              </p:ext>
            </p:extLst>
          </p:nvPr>
        </p:nvGraphicFramePr>
        <p:xfrm>
          <a:off x="274320" y="914400"/>
          <a:ext cx="50292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914400"/>
            <a:ext cx="3291840" cy="38404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7" name="Shape 4"/>
          <p:cNvSpPr/>
          <p:nvPr/>
        </p:nvSpPr>
        <p:spPr>
          <a:xfrm>
            <a:off x="5577840" y="914400"/>
            <a:ext cx="64008" cy="3840480"/>
          </a:xfrm>
          <a:prstGeom prst="rect">
            <a:avLst/>
          </a:prstGeom>
          <a:solidFill>
            <a:srgbClr val="D4922A"/>
          </a:solidFill>
          <a:ln/>
        </p:spPr>
      </p:sp>
      <p:sp>
        <p:nvSpPr>
          <p:cNvPr id="8" name="Text 5"/>
          <p:cNvSpPr/>
          <p:nvPr/>
        </p:nvSpPr>
        <p:spPr>
          <a:xfrm>
            <a:off x="5760720" y="1051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4922A"/>
                </a:solidFill>
              </a:rPr>
              <a:t>KEY FINDING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715000" y="1463040"/>
            <a:ext cx="3017520" cy="658368"/>
          </a:xfrm>
          <a:prstGeom prst="rect">
            <a:avLst/>
          </a:prstGeom>
          <a:solidFill>
            <a:srgbClr val="111111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852160" y="1536192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Regular passengers generate 3× more revenue than all other loyalty status combined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715000" y="2267712"/>
            <a:ext cx="3017520" cy="658368"/>
          </a:xfrm>
          <a:prstGeom prst="rect">
            <a:avLst/>
          </a:prstGeom>
          <a:solidFill>
            <a:srgbClr val="111111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852160" y="2340864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Gold and Silver status shows low revenue contribution 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715000" y="3072384"/>
            <a:ext cx="3017520" cy="658368"/>
          </a:xfrm>
          <a:prstGeom prst="rect">
            <a:avLst/>
          </a:prstGeom>
          <a:solidFill>
            <a:srgbClr val="111111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852160" y="3145536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Platinum status underperforms despite premium positioning 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715000" y="3877056"/>
            <a:ext cx="3017520" cy="658368"/>
          </a:xfrm>
          <a:prstGeom prst="rect">
            <a:avLst/>
          </a:prstGeom>
          <a:solidFill>
            <a:srgbClr val="111111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852160" y="3950208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Loyalty program lacks clear upgrade path making it difficult for customers to move from regular to loyal customers 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18" name="Text 15"/>
          <p:cNvSpPr/>
          <p:nvPr/>
        </p:nvSpPr>
        <p:spPr>
          <a:xfrm>
            <a:off x="27432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9880"/>
                </a:solidFill>
              </a:rPr>
              <a:t>SkyConnect  •  Performance Dashboard 2022–2024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C16429-0AB1-EDA3-2585-EAF245470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5E31EC6-811C-4A67-C67C-7F4C1547F552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E89F5B8-E945-2F7F-218B-E7CF1ED407C5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922A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F915B05-DA6B-AF42-7CBF-3E73BFAE10D3}"/>
              </a:ext>
            </a:extLst>
          </p:cNvPr>
          <p:cNvSpPr/>
          <p:nvPr/>
        </p:nvSpPr>
        <p:spPr>
          <a:xfrm>
            <a:off x="365760" y="105630"/>
            <a:ext cx="8229600" cy="2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SETUP (Screenshots of MySQL Workbench) 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12303F10-4737-6258-17EA-E50958CBF677}"/>
              </a:ext>
            </a:extLst>
          </p:cNvPr>
          <p:cNvSpPr/>
          <p:nvPr/>
        </p:nvSpPr>
        <p:spPr>
          <a:xfrm>
            <a:off x="4389120" y="914400"/>
            <a:ext cx="64008" cy="3840480"/>
          </a:xfrm>
          <a:prstGeom prst="rect">
            <a:avLst/>
          </a:prstGeom>
          <a:solidFill>
            <a:srgbClr val="D4922A"/>
          </a:solidFill>
          <a:ln/>
        </p:spPr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2C1842FD-0C3E-8C9C-F260-30502481F98C}"/>
              </a:ext>
            </a:extLst>
          </p:cNvPr>
          <p:cNvSpPr/>
          <p:nvPr/>
        </p:nvSpPr>
        <p:spPr>
          <a:xfrm>
            <a:off x="5715000" y="3877056"/>
            <a:ext cx="3017520" cy="658368"/>
          </a:xfrm>
          <a:prstGeom prst="rect">
            <a:avLst/>
          </a:prstGeom>
          <a:solidFill>
            <a:srgbClr val="111111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C20306D2-F078-894A-82FA-911E904B823F}"/>
              </a:ext>
            </a:extLst>
          </p:cNvPr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9E896EFE-6FCB-4158-C6B2-CDD498F6D409}"/>
              </a:ext>
            </a:extLst>
          </p:cNvPr>
          <p:cNvSpPr/>
          <p:nvPr/>
        </p:nvSpPr>
        <p:spPr>
          <a:xfrm>
            <a:off x="27432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9880"/>
                </a:solidFill>
              </a:rPr>
              <a:t>SkyConnect  •  Performance Dashboard 2022–2024</a:t>
            </a:r>
            <a:endParaRPr lang="en-US" sz="9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0B84FE7-46CB-28D2-CCD5-979428ECB7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1" y="423621"/>
            <a:ext cx="3968495" cy="463563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C51BB2B-F80B-4E9D-333B-7F23C248D7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575" y="423621"/>
            <a:ext cx="4261103" cy="4586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8866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72ACBF-9A8A-9159-EE2B-41801D1AC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78E9A30-1592-37A7-44C8-56F8D0A1042A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EA5CB2B-54FD-B93B-4C26-0AFF2C01C921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922A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3A519B2-D6C8-248A-C6EB-05A2947F63F5}"/>
              </a:ext>
            </a:extLst>
          </p:cNvPr>
          <p:cNvSpPr/>
          <p:nvPr/>
        </p:nvSpPr>
        <p:spPr>
          <a:xfrm>
            <a:off x="365760" y="105630"/>
            <a:ext cx="8229600" cy="2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SETUP (Screenshots of MySQL Workbench) 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0CE23CD7-9B96-483D-962E-2ED34700B21E}"/>
              </a:ext>
            </a:extLst>
          </p:cNvPr>
          <p:cNvSpPr/>
          <p:nvPr/>
        </p:nvSpPr>
        <p:spPr>
          <a:xfrm>
            <a:off x="4389120" y="914400"/>
            <a:ext cx="64008" cy="3840480"/>
          </a:xfrm>
          <a:prstGeom prst="rect">
            <a:avLst/>
          </a:prstGeom>
          <a:solidFill>
            <a:srgbClr val="D4922A"/>
          </a:solidFill>
          <a:ln/>
        </p:spPr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A9F6BFCC-D410-7E31-59D6-89CC7C878794}"/>
              </a:ext>
            </a:extLst>
          </p:cNvPr>
          <p:cNvSpPr/>
          <p:nvPr/>
        </p:nvSpPr>
        <p:spPr>
          <a:xfrm>
            <a:off x="5715000" y="3877056"/>
            <a:ext cx="3017520" cy="658368"/>
          </a:xfrm>
          <a:prstGeom prst="rect">
            <a:avLst/>
          </a:prstGeom>
          <a:solidFill>
            <a:srgbClr val="111111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6D1DEBFA-BE47-189D-D07B-88396410F397}"/>
              </a:ext>
            </a:extLst>
          </p:cNvPr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0C9EB742-3653-1A9F-5EEF-F5E30BF4AABA}"/>
              </a:ext>
            </a:extLst>
          </p:cNvPr>
          <p:cNvSpPr/>
          <p:nvPr/>
        </p:nvSpPr>
        <p:spPr>
          <a:xfrm>
            <a:off x="27432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9880"/>
                </a:solidFill>
              </a:rPr>
              <a:t>SkyConnect  •  Performance Dashboard 2022–2024</a:t>
            </a:r>
            <a:endParaRPr lang="en-US" sz="9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800EF7-1697-8365-4EF7-2AF75A2EDE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186" y="483476"/>
            <a:ext cx="3982475" cy="43445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3B1F799-2533-4469-1308-F77521115D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0586" y="483476"/>
            <a:ext cx="4073945" cy="434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078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767402-CF2D-049C-BEDB-C195DB2BF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AE4B8E9-2547-7228-EA52-BB9DA1A00401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2E2AE55-778A-2733-B830-488430937015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922A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F6BE4CF-079E-418A-2150-D0C855CA1B65}"/>
              </a:ext>
            </a:extLst>
          </p:cNvPr>
          <p:cNvSpPr/>
          <p:nvPr/>
        </p:nvSpPr>
        <p:spPr>
          <a:xfrm>
            <a:off x="365760" y="105630"/>
            <a:ext cx="8229600" cy="2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 DASHBOARD</a:t>
            </a:r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65DACAC0-0A37-52E3-551D-F6C33B98C76D}"/>
              </a:ext>
            </a:extLst>
          </p:cNvPr>
          <p:cNvSpPr/>
          <p:nvPr/>
        </p:nvSpPr>
        <p:spPr>
          <a:xfrm>
            <a:off x="5715000" y="3877056"/>
            <a:ext cx="3017520" cy="658368"/>
          </a:xfrm>
          <a:prstGeom prst="rect">
            <a:avLst/>
          </a:prstGeom>
          <a:solidFill>
            <a:srgbClr val="111111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F4292753-F61A-A513-E675-A31FF54B5B33}"/>
              </a:ext>
            </a:extLst>
          </p:cNvPr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5CF125C7-C409-0874-3E9F-06E2548594A8}"/>
              </a:ext>
            </a:extLst>
          </p:cNvPr>
          <p:cNvSpPr/>
          <p:nvPr/>
        </p:nvSpPr>
        <p:spPr>
          <a:xfrm>
            <a:off x="27432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9880"/>
                </a:solidFill>
              </a:rPr>
              <a:t>SkyConnect  •  Performance Dashboard 2022–2024</a:t>
            </a:r>
            <a:endParaRPr lang="en-US" sz="9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F770C7D-01FA-6277-157D-AF8ED8C283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08076"/>
            <a:ext cx="8648963" cy="4151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1876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1440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ANALYSIS DASHBOARD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892040" y="1005840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715000" y="107899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2304288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1234440" y="367588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b="1" dirty="0">
              <a:solidFill>
                <a:srgbClr val="FFFFFF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4892040" y="3602736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5715000" y="367588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b="1" dirty="0">
              <a:solidFill>
                <a:srgbClr val="FFFFFF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9880"/>
                </a:solidFill>
              </a:rPr>
              <a:t>SkyConnect  •  Performance Dashboard 2022–2024</a:t>
            </a:r>
            <a:endParaRPr lang="en-US" sz="9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28E69B-E31F-BC85-E53B-2BA24444E7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12648"/>
            <a:ext cx="8321040" cy="405079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35F865-A503-C510-4616-5AC0FBDEC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E72901F-F902-7A63-5E69-14E5D9BDF71C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0FBDB0A-514C-9080-BEFE-1BE56A5139C1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1440E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D8156B2-A879-258E-6153-72D71BA3A2FA}"/>
              </a:ext>
            </a:extLst>
          </p:cNvPr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BEHAVIOUR ANALYSIS DASHBOARD</a:t>
            </a:r>
            <a:endParaRPr lang="en-US" sz="2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28B5AA2-938F-A209-88D2-594192221561}"/>
              </a:ext>
            </a:extLst>
          </p:cNvPr>
          <p:cNvSpPr/>
          <p:nvPr/>
        </p:nvSpPr>
        <p:spPr>
          <a:xfrm>
            <a:off x="411480" y="1005840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628146E-2741-6F9B-3905-426B4B3BA4EA}"/>
              </a:ext>
            </a:extLst>
          </p:cNvPr>
          <p:cNvSpPr/>
          <p:nvPr/>
        </p:nvSpPr>
        <p:spPr>
          <a:xfrm>
            <a:off x="4892040" y="1005840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E279400-EC41-60B6-AFF8-5615CA3CA16E}"/>
              </a:ext>
            </a:extLst>
          </p:cNvPr>
          <p:cNvSpPr/>
          <p:nvPr/>
        </p:nvSpPr>
        <p:spPr>
          <a:xfrm>
            <a:off x="5715000" y="107899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AE15F9E-DFA7-6373-E5C7-83BF5A58526B}"/>
              </a:ext>
            </a:extLst>
          </p:cNvPr>
          <p:cNvSpPr/>
          <p:nvPr/>
        </p:nvSpPr>
        <p:spPr>
          <a:xfrm>
            <a:off x="411480" y="2304288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5D98F078-7A44-1271-C2B1-440019DB3AF8}"/>
              </a:ext>
            </a:extLst>
          </p:cNvPr>
          <p:cNvSpPr/>
          <p:nvPr/>
        </p:nvSpPr>
        <p:spPr>
          <a:xfrm>
            <a:off x="1234440" y="367588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b="1" dirty="0">
              <a:solidFill>
                <a:srgbClr val="FFFFFF"/>
              </a:solidFill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02AA8C66-865F-11A1-D396-290A2B2971DD}"/>
              </a:ext>
            </a:extLst>
          </p:cNvPr>
          <p:cNvSpPr/>
          <p:nvPr/>
        </p:nvSpPr>
        <p:spPr>
          <a:xfrm>
            <a:off x="4892040" y="3602736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A0230544-5E48-95CE-290E-6EF4E672B8E0}"/>
              </a:ext>
            </a:extLst>
          </p:cNvPr>
          <p:cNvSpPr/>
          <p:nvPr/>
        </p:nvSpPr>
        <p:spPr>
          <a:xfrm>
            <a:off x="5715000" y="367588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b="1" dirty="0">
              <a:solidFill>
                <a:srgbClr val="FFFFFF"/>
              </a:solidFill>
            </a:endParaRPr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143D327D-10C4-F13E-A808-67CDE416F756}"/>
              </a:ext>
            </a:extLst>
          </p:cNvPr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C42B07A7-470B-EC24-7E73-3908B4354906}"/>
              </a:ext>
            </a:extLst>
          </p:cNvPr>
          <p:cNvSpPr/>
          <p:nvPr/>
        </p:nvSpPr>
        <p:spPr>
          <a:xfrm>
            <a:off x="27432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9880"/>
                </a:solidFill>
              </a:rPr>
              <a:t>SkyConnect  •  Performance Dashboard 2022–2024</a:t>
            </a:r>
            <a:endParaRPr lang="en-US" sz="9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F8CAA9-8688-A590-2E23-F98715D6D1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56758"/>
            <a:ext cx="8229600" cy="4171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1323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3A12CD-7E95-3816-2AC4-0EDA9839E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0F55704-2389-4A8B-309F-B902822DA248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73C2FCC-9918-3375-4616-F627DFFAE258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1440E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7C19E9B-035C-8F64-0EDC-76EE96A596DB}"/>
              </a:ext>
            </a:extLst>
          </p:cNvPr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CRITICAL INSIGHTS</a:t>
            </a: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34C1ADF-DCA4-FF35-218C-E806BB4D53B6}"/>
              </a:ext>
            </a:extLst>
          </p:cNvPr>
          <p:cNvSpPr/>
          <p:nvPr/>
        </p:nvSpPr>
        <p:spPr>
          <a:xfrm>
            <a:off x="274320" y="914400"/>
            <a:ext cx="4114800" cy="1097280"/>
          </a:xfrm>
          <a:prstGeom prst="rect">
            <a:avLst/>
          </a:prstGeom>
          <a:solidFill>
            <a:srgbClr val="1E1E1E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5DA2B7D-32B4-EA10-4894-30601CB89360}"/>
              </a:ext>
            </a:extLst>
          </p:cNvPr>
          <p:cNvSpPr/>
          <p:nvPr/>
        </p:nvSpPr>
        <p:spPr>
          <a:xfrm>
            <a:off x="274320" y="914400"/>
            <a:ext cx="4114800" cy="54864"/>
          </a:xfrm>
          <a:prstGeom prst="rect">
            <a:avLst/>
          </a:prstGeom>
          <a:solidFill>
            <a:srgbClr val="C1440E"/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B851352-93F9-E6F5-500B-9CC94AC15642}"/>
              </a:ext>
            </a:extLst>
          </p:cNvPr>
          <p:cNvSpPr/>
          <p:nvPr/>
        </p:nvSpPr>
        <p:spPr>
          <a:xfrm>
            <a:off x="411480" y="1005840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1440E"/>
                </a:solidFill>
              </a:rPr>
              <a:t>01</a:t>
            </a:r>
            <a:endParaRPr lang="en-US" sz="28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DEA9182-A315-ECC6-38E1-FF46EC01B0B4}"/>
              </a:ext>
            </a:extLst>
          </p:cNvPr>
          <p:cNvSpPr/>
          <p:nvPr/>
        </p:nvSpPr>
        <p:spPr>
          <a:xfrm>
            <a:off x="1078992" y="1078992"/>
            <a:ext cx="36576" cy="640080"/>
          </a:xfrm>
          <a:prstGeom prst="rect">
            <a:avLst/>
          </a:prstGeom>
          <a:solidFill>
            <a:srgbClr val="C1440E">
              <a:alpha val="50000"/>
            </a:srgbClr>
          </a:solidFill>
          <a:ln/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A12F469-F24F-C8E1-AF71-20EAF48B7DBD}"/>
              </a:ext>
            </a:extLst>
          </p:cNvPr>
          <p:cNvSpPr/>
          <p:nvPr/>
        </p:nvSpPr>
        <p:spPr>
          <a:xfrm>
            <a:off x="1234440" y="107899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Revenue peaked in 2023, but growth is unstable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Revenue increased significantly into 2023, followed by a noticeable slowdown in 2024 </a:t>
            </a:r>
            <a:endParaRPr lang="en-US" sz="11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98E0329-64F8-67D8-810B-76FAE2888147}"/>
              </a:ext>
            </a:extLst>
          </p:cNvPr>
          <p:cNvSpPr/>
          <p:nvPr/>
        </p:nvSpPr>
        <p:spPr>
          <a:xfrm>
            <a:off x="4754880" y="914400"/>
            <a:ext cx="4114800" cy="1097280"/>
          </a:xfrm>
          <a:prstGeom prst="rect">
            <a:avLst/>
          </a:prstGeom>
          <a:solidFill>
            <a:srgbClr val="1E1E1E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A4E1BD1-8FFC-E5C2-DE05-D7D3AFDBAADC}"/>
              </a:ext>
            </a:extLst>
          </p:cNvPr>
          <p:cNvSpPr/>
          <p:nvPr/>
        </p:nvSpPr>
        <p:spPr>
          <a:xfrm>
            <a:off x="4754880" y="914400"/>
            <a:ext cx="4114800" cy="54864"/>
          </a:xfrm>
          <a:prstGeom prst="rect">
            <a:avLst/>
          </a:prstGeom>
          <a:solidFill>
            <a:srgbClr val="C84B2E"/>
          </a:solidFill>
          <a:ln/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A3494D2-CD21-2CC7-67D5-F77EB0515797}"/>
              </a:ext>
            </a:extLst>
          </p:cNvPr>
          <p:cNvSpPr/>
          <p:nvPr/>
        </p:nvSpPr>
        <p:spPr>
          <a:xfrm>
            <a:off x="4892040" y="1005840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84B2E"/>
                </a:solidFill>
              </a:rPr>
              <a:t>02</a:t>
            </a:r>
            <a:endParaRPr lang="en-US" sz="28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98654B1-C7B1-5D74-D129-FD14BD27FF4D}"/>
              </a:ext>
            </a:extLst>
          </p:cNvPr>
          <p:cNvSpPr/>
          <p:nvPr/>
        </p:nvSpPr>
        <p:spPr>
          <a:xfrm>
            <a:off x="5559552" y="1078992"/>
            <a:ext cx="36576" cy="640080"/>
          </a:xfrm>
          <a:prstGeom prst="rect">
            <a:avLst/>
          </a:prstGeom>
          <a:solidFill>
            <a:srgbClr val="C84B2E">
              <a:alpha val="50000"/>
            </a:srgbClr>
          </a:solidFill>
          <a:ln/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A253849-F769-9380-2B1C-CF93A983E218}"/>
              </a:ext>
            </a:extLst>
          </p:cNvPr>
          <p:cNvSpPr/>
          <p:nvPr/>
        </p:nvSpPr>
        <p:spPr>
          <a:xfrm>
            <a:off x="5715000" y="107899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Weather &amp; Air Traffic Control are the primary delay drivers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These two factors account for the highest delay minutes </a:t>
            </a:r>
            <a:endParaRPr lang="en-US" sz="11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8BA8970C-73F7-D12E-B539-2B68A959E546}"/>
              </a:ext>
            </a:extLst>
          </p:cNvPr>
          <p:cNvSpPr/>
          <p:nvPr/>
        </p:nvSpPr>
        <p:spPr>
          <a:xfrm>
            <a:off x="274320" y="2212848"/>
            <a:ext cx="4114800" cy="1097280"/>
          </a:xfrm>
          <a:prstGeom prst="rect">
            <a:avLst/>
          </a:prstGeom>
          <a:solidFill>
            <a:srgbClr val="1E1E1E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47C73ECB-7A62-D833-F946-F9044C912234}"/>
              </a:ext>
            </a:extLst>
          </p:cNvPr>
          <p:cNvSpPr/>
          <p:nvPr/>
        </p:nvSpPr>
        <p:spPr>
          <a:xfrm>
            <a:off x="274320" y="2212848"/>
            <a:ext cx="4114800" cy="54864"/>
          </a:xfrm>
          <a:prstGeom prst="rect">
            <a:avLst/>
          </a:prstGeom>
          <a:solidFill>
            <a:srgbClr val="D4922A"/>
          </a:solidFill>
          <a:ln/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30430A7-7351-48F9-5B35-D4ACDFAB1012}"/>
              </a:ext>
            </a:extLst>
          </p:cNvPr>
          <p:cNvSpPr/>
          <p:nvPr/>
        </p:nvSpPr>
        <p:spPr>
          <a:xfrm>
            <a:off x="411480" y="2304288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4922A"/>
                </a:solidFill>
              </a:rPr>
              <a:t>03</a:t>
            </a:r>
            <a:endParaRPr lang="en-US" sz="28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EC987EDC-3611-80D1-DF3F-59F68FE5FC6A}"/>
              </a:ext>
            </a:extLst>
          </p:cNvPr>
          <p:cNvSpPr/>
          <p:nvPr/>
        </p:nvSpPr>
        <p:spPr>
          <a:xfrm>
            <a:off x="1078992" y="2377440"/>
            <a:ext cx="36576" cy="640080"/>
          </a:xfrm>
          <a:prstGeom prst="rect">
            <a:avLst/>
          </a:prstGeom>
          <a:solidFill>
            <a:srgbClr val="D4922A">
              <a:alpha val="50000"/>
            </a:srgbClr>
          </a:solidFill>
          <a:ln/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DCBA7D00-C1C7-C928-F161-4D8DD836CFC5}"/>
              </a:ext>
            </a:extLst>
          </p:cNvPr>
          <p:cNvSpPr/>
          <p:nvPr/>
        </p:nvSpPr>
        <p:spPr>
          <a:xfrm>
            <a:off x="1234440" y="23774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Delay Severity (High) dominate total delay distribution by 70%+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Most delays are not minor, they are operationally disruptive </a:t>
            </a:r>
            <a:endParaRPr lang="en-US" sz="11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2856C9BB-59A6-0011-7EA5-3D7F63B9036A}"/>
              </a:ext>
            </a:extLst>
          </p:cNvPr>
          <p:cNvSpPr/>
          <p:nvPr/>
        </p:nvSpPr>
        <p:spPr>
          <a:xfrm>
            <a:off x="4754880" y="2212848"/>
            <a:ext cx="4114800" cy="1097280"/>
          </a:xfrm>
          <a:prstGeom prst="rect">
            <a:avLst/>
          </a:prstGeom>
          <a:solidFill>
            <a:srgbClr val="1E1E1E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8A8F531E-C0B6-1B01-830D-6717153CCE93}"/>
              </a:ext>
            </a:extLst>
          </p:cNvPr>
          <p:cNvSpPr/>
          <p:nvPr/>
        </p:nvSpPr>
        <p:spPr>
          <a:xfrm>
            <a:off x="4754880" y="2212848"/>
            <a:ext cx="4114800" cy="54864"/>
          </a:xfrm>
          <a:prstGeom prst="rect">
            <a:avLst/>
          </a:prstGeom>
          <a:solidFill>
            <a:srgbClr val="D4845A"/>
          </a:solidFill>
          <a:ln/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FDC22EAD-ADD7-A0BF-CAE5-157D7CE8C88D}"/>
              </a:ext>
            </a:extLst>
          </p:cNvPr>
          <p:cNvSpPr/>
          <p:nvPr/>
        </p:nvSpPr>
        <p:spPr>
          <a:xfrm>
            <a:off x="4892040" y="2304288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4845A"/>
                </a:solidFill>
              </a:rPr>
              <a:t>04</a:t>
            </a:r>
            <a:endParaRPr lang="en-US" sz="28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62EF4289-BFB0-71B7-1421-C9BD176C6E9C}"/>
              </a:ext>
            </a:extLst>
          </p:cNvPr>
          <p:cNvSpPr/>
          <p:nvPr/>
        </p:nvSpPr>
        <p:spPr>
          <a:xfrm>
            <a:off x="5559552" y="2377440"/>
            <a:ext cx="36576" cy="640080"/>
          </a:xfrm>
          <a:prstGeom prst="rect">
            <a:avLst/>
          </a:prstGeom>
          <a:solidFill>
            <a:srgbClr val="D4845A">
              <a:alpha val="50000"/>
            </a:srgbClr>
          </a:solidFill>
          <a:ln/>
        </p:spPr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2B6082E1-D0FD-B9FC-BE25-FEB95B8ECDC4}"/>
              </a:ext>
            </a:extLst>
          </p:cNvPr>
          <p:cNvSpPr/>
          <p:nvPr/>
        </p:nvSpPr>
        <p:spPr>
          <a:xfrm>
            <a:off x="5715000" y="23774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</a:rPr>
              <a:t>High-traffic routes drive both revenue AND congestion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Routes like Cairo → Port Harcourt generate top revenue but also experience strain i.e. most profitable </a:t>
            </a:r>
            <a:r>
              <a:rPr lang="en-US" sz="1200" dirty="0">
                <a:solidFill>
                  <a:schemeClr val="bg1"/>
                </a:solidFill>
              </a:rPr>
              <a:t>≠ </a:t>
            </a:r>
            <a:r>
              <a:rPr lang="en-US" sz="1100" dirty="0">
                <a:solidFill>
                  <a:schemeClr val="bg1"/>
                </a:solidFill>
              </a:rPr>
              <a:t>most efficient </a:t>
            </a: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45A0E62D-479A-113F-9507-019E251B00B8}"/>
              </a:ext>
            </a:extLst>
          </p:cNvPr>
          <p:cNvSpPr/>
          <p:nvPr/>
        </p:nvSpPr>
        <p:spPr>
          <a:xfrm>
            <a:off x="274320" y="3511296"/>
            <a:ext cx="4114800" cy="1097280"/>
          </a:xfrm>
          <a:prstGeom prst="rect">
            <a:avLst/>
          </a:prstGeom>
          <a:solidFill>
            <a:srgbClr val="1E1E1E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C8F15D61-C645-1F5B-3B35-5FC61A5C37D2}"/>
              </a:ext>
            </a:extLst>
          </p:cNvPr>
          <p:cNvSpPr/>
          <p:nvPr/>
        </p:nvSpPr>
        <p:spPr>
          <a:xfrm>
            <a:off x="274320" y="3511296"/>
            <a:ext cx="4114800" cy="54864"/>
          </a:xfrm>
          <a:prstGeom prst="rect">
            <a:avLst/>
          </a:prstGeom>
          <a:solidFill>
            <a:srgbClr val="F2C94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7590026B-1816-B1C2-C097-3B9D4AAC932A}"/>
              </a:ext>
            </a:extLst>
          </p:cNvPr>
          <p:cNvSpPr/>
          <p:nvPr/>
        </p:nvSpPr>
        <p:spPr>
          <a:xfrm>
            <a:off x="411480" y="3602736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2C94C"/>
                </a:solidFill>
              </a:rPr>
              <a:t>05</a:t>
            </a:r>
            <a:endParaRPr lang="en-US" sz="28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A51E848B-5580-5C25-F836-1456E0B3155F}"/>
              </a:ext>
            </a:extLst>
          </p:cNvPr>
          <p:cNvSpPr/>
          <p:nvPr/>
        </p:nvSpPr>
        <p:spPr>
          <a:xfrm>
            <a:off x="1078992" y="3675888"/>
            <a:ext cx="36576" cy="640080"/>
          </a:xfrm>
          <a:prstGeom prst="rect">
            <a:avLst/>
          </a:prstGeom>
          <a:solidFill>
            <a:srgbClr val="F2C94C">
              <a:alpha val="50000"/>
            </a:srgbClr>
          </a:solidFill>
          <a:ln/>
        </p:spPr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7F7BC52B-ED7E-6D2D-1B8B-3AC4231B6201}"/>
              </a:ext>
            </a:extLst>
          </p:cNvPr>
          <p:cNvSpPr/>
          <p:nvPr/>
        </p:nvSpPr>
        <p:spPr>
          <a:xfrm>
            <a:off x="1234440" y="367588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Loyalty program is underperforming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Regular passengers contribute more volume than premium tiers 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9A1205F5-9FAC-0B45-B631-E05448582864}"/>
              </a:ext>
            </a:extLst>
          </p:cNvPr>
          <p:cNvSpPr/>
          <p:nvPr/>
        </p:nvSpPr>
        <p:spPr>
          <a:xfrm>
            <a:off x="4754880" y="3511296"/>
            <a:ext cx="4114800" cy="1097280"/>
          </a:xfrm>
          <a:prstGeom prst="rect">
            <a:avLst/>
          </a:prstGeom>
          <a:solidFill>
            <a:srgbClr val="1E1E1E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604C9821-E1B2-B947-D33E-94C3C22601FA}"/>
              </a:ext>
            </a:extLst>
          </p:cNvPr>
          <p:cNvSpPr/>
          <p:nvPr/>
        </p:nvSpPr>
        <p:spPr>
          <a:xfrm>
            <a:off x="4754880" y="3511296"/>
            <a:ext cx="4114800" cy="54864"/>
          </a:xfrm>
          <a:prstGeom prst="rect">
            <a:avLst/>
          </a:prstGeom>
          <a:solidFill>
            <a:srgbClr val="7DA87B"/>
          </a:solidFill>
          <a:ln/>
        </p:spPr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3D0A072B-D124-ECEB-1722-50F9B4C9009E}"/>
              </a:ext>
            </a:extLst>
          </p:cNvPr>
          <p:cNvSpPr/>
          <p:nvPr/>
        </p:nvSpPr>
        <p:spPr>
          <a:xfrm>
            <a:off x="4892040" y="3602736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DA87B"/>
                </a:solidFill>
              </a:rPr>
              <a:t>06</a:t>
            </a:r>
            <a:endParaRPr lang="en-US" sz="28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AEA6888D-EC59-5CD5-57A0-5F1E6FD4774E}"/>
              </a:ext>
            </a:extLst>
          </p:cNvPr>
          <p:cNvSpPr/>
          <p:nvPr/>
        </p:nvSpPr>
        <p:spPr>
          <a:xfrm>
            <a:off x="5559552" y="3675888"/>
            <a:ext cx="36576" cy="640080"/>
          </a:xfrm>
          <a:prstGeom prst="rect">
            <a:avLst/>
          </a:prstGeom>
          <a:solidFill>
            <a:srgbClr val="7DA87B">
              <a:alpha val="50000"/>
            </a:srgbClr>
          </a:solidFill>
          <a:ln/>
        </p:spPr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86BD54AD-EE85-1780-EF14-1E2F52D887F1}"/>
              </a:ext>
            </a:extLst>
          </p:cNvPr>
          <p:cNvSpPr/>
          <p:nvPr/>
        </p:nvSpPr>
        <p:spPr>
          <a:xfrm>
            <a:off x="5715000" y="4064508"/>
            <a:ext cx="3017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Young adults are underrepresented by 15% only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A key demographic is not being fully captured, resulting in a missed opportunity for long-term customer growth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0964A4BC-945C-9A8B-81FE-32ADF5E67CA8}"/>
              </a:ext>
            </a:extLst>
          </p:cNvPr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BC915FDB-9C06-CBB0-A4EA-8C04365BF23C}"/>
              </a:ext>
            </a:extLst>
          </p:cNvPr>
          <p:cNvSpPr/>
          <p:nvPr/>
        </p:nvSpPr>
        <p:spPr>
          <a:xfrm>
            <a:off x="27432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9880"/>
                </a:solidFill>
              </a:rPr>
              <a:t>SkyConnect  •  Performance Dashboard 2022–2024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0644230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AD7CB3-2C4D-2C08-46F8-8416BF9ED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C8CBB3C-C85E-2573-6489-0D3BD7CBBF29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0598F96-C647-097A-4736-602FB30E6533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1440E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3E40A28-19FF-67F2-9A61-B6267162DD79}"/>
              </a:ext>
            </a:extLst>
          </p:cNvPr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(Immediate Actions)</a:t>
            </a: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BD37D5A-739F-BD4A-5198-0D7CA5E2063C}"/>
              </a:ext>
            </a:extLst>
          </p:cNvPr>
          <p:cNvSpPr/>
          <p:nvPr/>
        </p:nvSpPr>
        <p:spPr>
          <a:xfrm>
            <a:off x="274320" y="914400"/>
            <a:ext cx="8595360" cy="822960"/>
          </a:xfrm>
          <a:prstGeom prst="rect">
            <a:avLst/>
          </a:prstGeom>
          <a:solidFill>
            <a:srgbClr val="1E1E1E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FE5A4C3-716B-8739-9D6B-390B216EB1D1}"/>
              </a:ext>
            </a:extLst>
          </p:cNvPr>
          <p:cNvSpPr/>
          <p:nvPr/>
        </p:nvSpPr>
        <p:spPr>
          <a:xfrm>
            <a:off x="274320" y="914400"/>
            <a:ext cx="1280160" cy="822960"/>
          </a:xfrm>
          <a:prstGeom prst="rect">
            <a:avLst/>
          </a:prstGeom>
          <a:solidFill>
            <a:srgbClr val="C84B2E">
              <a:alpha val="80000"/>
            </a:srgbClr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4D019EE-BB31-82A5-2BE1-8117A3FA07E7}"/>
              </a:ext>
            </a:extLst>
          </p:cNvPr>
          <p:cNvSpPr/>
          <p:nvPr/>
        </p:nvSpPr>
        <p:spPr>
          <a:xfrm>
            <a:off x="274320" y="111556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</a:rPr>
              <a:t>URGENT</a:t>
            </a:r>
            <a:endParaRPr lang="en-US" sz="1200" dirty="0"/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BACCB6E3-4594-DD10-79EC-37BE2AE2CA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80" y="1115568"/>
            <a:ext cx="347472" cy="347472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6B576582-3198-C579-56EC-B091E418CABC}"/>
              </a:ext>
            </a:extLst>
          </p:cNvPr>
          <p:cNvSpPr/>
          <p:nvPr/>
        </p:nvSpPr>
        <p:spPr>
          <a:xfrm>
            <a:off x="2240280" y="1078992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Invest in Predictive Weather &amp; Air Traffic Control Delay Management Systems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Use machine learning models to forecast storms or congestion hours ahead and reschedule flights or prepare backup crews early</a:t>
            </a: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21046A49-8002-25CB-38EC-DA9A6B3D772B}"/>
              </a:ext>
            </a:extLst>
          </p:cNvPr>
          <p:cNvSpPr/>
          <p:nvPr/>
        </p:nvSpPr>
        <p:spPr>
          <a:xfrm>
            <a:off x="274320" y="1883664"/>
            <a:ext cx="8595360" cy="822960"/>
          </a:xfrm>
          <a:prstGeom prst="rect">
            <a:avLst/>
          </a:prstGeom>
          <a:solidFill>
            <a:srgbClr val="1E1E1E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2D4F2DD4-1247-0058-47EF-650484FD9B6C}"/>
              </a:ext>
            </a:extLst>
          </p:cNvPr>
          <p:cNvSpPr/>
          <p:nvPr/>
        </p:nvSpPr>
        <p:spPr>
          <a:xfrm>
            <a:off x="274320" y="1883664"/>
            <a:ext cx="1280160" cy="822960"/>
          </a:xfrm>
          <a:prstGeom prst="rect">
            <a:avLst/>
          </a:prstGeom>
          <a:solidFill>
            <a:srgbClr val="D4922A">
              <a:alpha val="80000"/>
            </a:srgbClr>
          </a:solidFill>
          <a:ln/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61CBCEBF-89A1-A062-F450-7F0DA659E849}"/>
              </a:ext>
            </a:extLst>
          </p:cNvPr>
          <p:cNvSpPr/>
          <p:nvPr/>
        </p:nvSpPr>
        <p:spPr>
          <a:xfrm>
            <a:off x="274320" y="208483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</a:rPr>
              <a:t>HIGH</a:t>
            </a:r>
            <a:endParaRPr lang="en-US" sz="1200" dirty="0"/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85953A20-8C61-0826-B8A8-313262F1D3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3080" y="2084832"/>
            <a:ext cx="347472" cy="347472"/>
          </a:xfrm>
          <a:prstGeom prst="rect">
            <a:avLst/>
          </a:prstGeom>
        </p:spPr>
      </p:pic>
      <p:sp>
        <p:nvSpPr>
          <p:cNvPr id="14" name="Text 10">
            <a:extLst>
              <a:ext uri="{FF2B5EF4-FFF2-40B4-BE49-F238E27FC236}">
                <a16:creationId xmlns:a16="http://schemas.microsoft.com/office/drawing/2014/main" id="{0D0B46E1-B643-D808-2C24-788C63689B41}"/>
              </a:ext>
            </a:extLst>
          </p:cNvPr>
          <p:cNvSpPr/>
          <p:nvPr/>
        </p:nvSpPr>
        <p:spPr>
          <a:xfrm>
            <a:off x="2240280" y="2048256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Strengthen Loyalty Upgrade Structure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100" dirty="0">
                <a:solidFill>
                  <a:schemeClr val="bg1"/>
                </a:solidFill>
              </a:rPr>
              <a:t>Introduce clear rules  ( e.g. 5 flights in 3 months = “Silver”) with benefits like priority boarding, lounge access or 10-15% to encourage repeat bookings </a:t>
            </a:r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03EE88FF-3185-B7BE-4D4A-DAFE748F30DE}"/>
              </a:ext>
            </a:extLst>
          </p:cNvPr>
          <p:cNvSpPr/>
          <p:nvPr/>
        </p:nvSpPr>
        <p:spPr>
          <a:xfrm>
            <a:off x="274320" y="2852928"/>
            <a:ext cx="8595360" cy="822960"/>
          </a:xfrm>
          <a:prstGeom prst="rect">
            <a:avLst/>
          </a:prstGeom>
          <a:solidFill>
            <a:srgbClr val="1E1E1E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6D67B539-FBA6-86AF-42FC-C56D93F13F6D}"/>
              </a:ext>
            </a:extLst>
          </p:cNvPr>
          <p:cNvSpPr/>
          <p:nvPr/>
        </p:nvSpPr>
        <p:spPr>
          <a:xfrm>
            <a:off x="274320" y="2852928"/>
            <a:ext cx="1280160" cy="822960"/>
          </a:xfrm>
          <a:prstGeom prst="rect">
            <a:avLst/>
          </a:prstGeom>
          <a:solidFill>
            <a:srgbClr val="D4845A">
              <a:alpha val="80000"/>
            </a:srgbClr>
          </a:solidFill>
          <a:ln/>
        </p:spPr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7C97EB89-0F5F-6EAF-F000-19151DACAA27}"/>
              </a:ext>
            </a:extLst>
          </p:cNvPr>
          <p:cNvSpPr/>
          <p:nvPr/>
        </p:nvSpPr>
        <p:spPr>
          <a:xfrm>
            <a:off x="274320" y="3054096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</a:rPr>
              <a:t>MEDIUM</a:t>
            </a:r>
            <a:endParaRPr lang="en-US" sz="1200" dirty="0"/>
          </a:p>
        </p:txBody>
      </p:sp>
      <p:pic>
        <p:nvPicPr>
          <p:cNvPr id="18" name="Image 2" descr="preencoded.png">
            <a:extLst>
              <a:ext uri="{FF2B5EF4-FFF2-40B4-BE49-F238E27FC236}">
                <a16:creationId xmlns:a16="http://schemas.microsoft.com/office/drawing/2014/main" id="{E2F205F6-0E73-E885-D6C2-D955D7F464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3080" y="3054096"/>
            <a:ext cx="347472" cy="347472"/>
          </a:xfrm>
          <a:prstGeom prst="rect">
            <a:avLst/>
          </a:prstGeom>
        </p:spPr>
      </p:pic>
      <p:sp>
        <p:nvSpPr>
          <p:cNvPr id="19" name="Text 14">
            <a:extLst>
              <a:ext uri="{FF2B5EF4-FFF2-40B4-BE49-F238E27FC236}">
                <a16:creationId xmlns:a16="http://schemas.microsoft.com/office/drawing/2014/main" id="{73AC899B-B343-FE02-6982-A9FF161C977A}"/>
              </a:ext>
            </a:extLst>
          </p:cNvPr>
          <p:cNvSpPr/>
          <p:nvPr/>
        </p:nvSpPr>
        <p:spPr>
          <a:xfrm>
            <a:off x="2240280" y="301752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Improve Flight Scheduling on Busy Routes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Spread out departures to reduce congestion and turnaround delays </a:t>
            </a:r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6A36E54A-FA5D-92FF-8309-3E1318BC4C30}"/>
              </a:ext>
            </a:extLst>
          </p:cNvPr>
          <p:cNvSpPr/>
          <p:nvPr/>
        </p:nvSpPr>
        <p:spPr>
          <a:xfrm>
            <a:off x="274320" y="3822192"/>
            <a:ext cx="8595360" cy="822960"/>
          </a:xfrm>
          <a:prstGeom prst="rect">
            <a:avLst/>
          </a:prstGeom>
          <a:solidFill>
            <a:srgbClr val="1E1E1E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40F6A540-2F06-5102-CB1C-239DF29196AA}"/>
              </a:ext>
            </a:extLst>
          </p:cNvPr>
          <p:cNvSpPr/>
          <p:nvPr/>
        </p:nvSpPr>
        <p:spPr>
          <a:xfrm>
            <a:off x="274320" y="3822192"/>
            <a:ext cx="1280160" cy="822960"/>
          </a:xfrm>
          <a:prstGeom prst="rect">
            <a:avLst/>
          </a:prstGeom>
          <a:solidFill>
            <a:srgbClr val="7DA87B">
              <a:alpha val="80000"/>
            </a:srgbClr>
          </a:solidFill>
          <a:ln/>
        </p:spPr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686386B4-F76F-B4BF-33CC-DA97BA0E220A}"/>
              </a:ext>
            </a:extLst>
          </p:cNvPr>
          <p:cNvSpPr/>
          <p:nvPr/>
        </p:nvSpPr>
        <p:spPr>
          <a:xfrm>
            <a:off x="274320" y="40233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</a:rPr>
              <a:t>LOW</a:t>
            </a:r>
            <a:endParaRPr lang="en-US" sz="1200" dirty="0"/>
          </a:p>
        </p:txBody>
      </p:sp>
      <p:pic>
        <p:nvPicPr>
          <p:cNvPr id="23" name="Image 3" descr="preencoded.png">
            <a:extLst>
              <a:ext uri="{FF2B5EF4-FFF2-40B4-BE49-F238E27FC236}">
                <a16:creationId xmlns:a16="http://schemas.microsoft.com/office/drawing/2014/main" id="{78AED149-B902-1820-AE98-E90A4B71AF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83080" y="4023360"/>
            <a:ext cx="347472" cy="347472"/>
          </a:xfrm>
          <a:prstGeom prst="rect">
            <a:avLst/>
          </a:prstGeom>
        </p:spPr>
      </p:pic>
      <p:sp>
        <p:nvSpPr>
          <p:cNvPr id="24" name="Text 18">
            <a:extLst>
              <a:ext uri="{FF2B5EF4-FFF2-40B4-BE49-F238E27FC236}">
                <a16:creationId xmlns:a16="http://schemas.microsoft.com/office/drawing/2014/main" id="{DBDAB5DE-DF4E-C003-3433-CE953DF00075}"/>
              </a:ext>
            </a:extLst>
          </p:cNvPr>
          <p:cNvSpPr/>
          <p:nvPr/>
        </p:nvSpPr>
        <p:spPr>
          <a:xfrm>
            <a:off x="2240280" y="3986784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Refine Pricing and Seat Allocation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Adjust seat mix and pricing based on demand ( e.g. add more economy seats on busy routes and discount unsold business class before departure) </a:t>
            </a:r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1A673210-E9EA-79E4-F30F-BE3FA32E61F0}"/>
              </a:ext>
            </a:extLst>
          </p:cNvPr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5BD950C9-F9B9-DA34-D2C4-B26A4D904FFF}"/>
              </a:ext>
            </a:extLst>
          </p:cNvPr>
          <p:cNvSpPr/>
          <p:nvPr/>
        </p:nvSpPr>
        <p:spPr>
          <a:xfrm>
            <a:off x="27432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9880"/>
                </a:solidFill>
              </a:rPr>
              <a:t>SkyConnect  •  Performance Dashboard 2022–2024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3353500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5E65F1-8ADF-B282-ED31-97D3C24BF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0B60A3A-AF8D-FF77-976C-32AFB509984A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A9502E5-EBB8-1F48-D9A6-3355A696D22A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1440E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F5A0D5E-A9D6-A34C-F048-CB21F5A9BFE0}"/>
              </a:ext>
            </a:extLst>
          </p:cNvPr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(Sustained Improvements)</a:t>
            </a: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E276E6B-7CF8-0B18-5E3D-55493CC6F098}"/>
              </a:ext>
            </a:extLst>
          </p:cNvPr>
          <p:cNvSpPr/>
          <p:nvPr/>
        </p:nvSpPr>
        <p:spPr>
          <a:xfrm>
            <a:off x="274320" y="914400"/>
            <a:ext cx="8595360" cy="822960"/>
          </a:xfrm>
          <a:prstGeom prst="rect">
            <a:avLst/>
          </a:prstGeom>
          <a:solidFill>
            <a:srgbClr val="1E1E1E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D696A44-9AE0-8A8B-BBA0-6D43CF3435D3}"/>
              </a:ext>
            </a:extLst>
          </p:cNvPr>
          <p:cNvSpPr/>
          <p:nvPr/>
        </p:nvSpPr>
        <p:spPr>
          <a:xfrm>
            <a:off x="274320" y="914400"/>
            <a:ext cx="1280160" cy="822960"/>
          </a:xfrm>
          <a:prstGeom prst="rect">
            <a:avLst/>
          </a:prstGeom>
          <a:solidFill>
            <a:srgbClr val="C84B2E">
              <a:alpha val="80000"/>
            </a:srgbClr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63CE387-DEA3-3E82-4072-9B515988E279}"/>
              </a:ext>
            </a:extLst>
          </p:cNvPr>
          <p:cNvSpPr/>
          <p:nvPr/>
        </p:nvSpPr>
        <p:spPr>
          <a:xfrm>
            <a:off x="274320" y="111556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</a:rPr>
              <a:t>URGENT</a:t>
            </a:r>
            <a:endParaRPr lang="en-US" sz="1200" dirty="0"/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2377A9CE-D864-E753-EE99-90175C864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80" y="1115568"/>
            <a:ext cx="347472" cy="347472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6BCAE874-E33D-7CE5-3356-7364FBCEEE83}"/>
              </a:ext>
            </a:extLst>
          </p:cNvPr>
          <p:cNvSpPr/>
          <p:nvPr/>
        </p:nvSpPr>
        <p:spPr>
          <a:xfrm>
            <a:off x="2240280" y="1078992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Invest in Fleet Modernization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Gradually replace older aircraft with more fuel-efficient and reliable models to reduce technical delays and long-term cost</a:t>
            </a: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F2A654CC-409C-935D-29BE-BB93F846B29A}"/>
              </a:ext>
            </a:extLst>
          </p:cNvPr>
          <p:cNvSpPr/>
          <p:nvPr/>
        </p:nvSpPr>
        <p:spPr>
          <a:xfrm>
            <a:off x="274320" y="1883664"/>
            <a:ext cx="8595360" cy="822960"/>
          </a:xfrm>
          <a:prstGeom prst="rect">
            <a:avLst/>
          </a:prstGeom>
          <a:solidFill>
            <a:srgbClr val="1E1E1E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FA81934F-EA4E-2F2D-EEFD-8CAC9FCCFC8A}"/>
              </a:ext>
            </a:extLst>
          </p:cNvPr>
          <p:cNvSpPr/>
          <p:nvPr/>
        </p:nvSpPr>
        <p:spPr>
          <a:xfrm>
            <a:off x="274320" y="1883664"/>
            <a:ext cx="1280160" cy="822960"/>
          </a:xfrm>
          <a:prstGeom prst="rect">
            <a:avLst/>
          </a:prstGeom>
          <a:solidFill>
            <a:srgbClr val="D4922A">
              <a:alpha val="80000"/>
            </a:srgbClr>
          </a:solidFill>
          <a:ln/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0E55D91-ADE9-6F25-6A45-B4ECE24E104B}"/>
              </a:ext>
            </a:extLst>
          </p:cNvPr>
          <p:cNvSpPr/>
          <p:nvPr/>
        </p:nvSpPr>
        <p:spPr>
          <a:xfrm>
            <a:off x="274320" y="208483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</a:rPr>
              <a:t>HIGH</a:t>
            </a:r>
            <a:endParaRPr lang="en-US" sz="1200" dirty="0"/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10CD10D9-A8AE-B67F-FF66-EC8C96B810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3080" y="2084832"/>
            <a:ext cx="347472" cy="347472"/>
          </a:xfrm>
          <a:prstGeom prst="rect">
            <a:avLst/>
          </a:prstGeom>
        </p:spPr>
      </p:pic>
      <p:sp>
        <p:nvSpPr>
          <p:cNvPr id="14" name="Text 10">
            <a:extLst>
              <a:ext uri="{FF2B5EF4-FFF2-40B4-BE49-F238E27FC236}">
                <a16:creationId xmlns:a16="http://schemas.microsoft.com/office/drawing/2014/main" id="{D6172D74-CD91-845D-5C2F-A1F6224BD7D1}"/>
              </a:ext>
            </a:extLst>
          </p:cNvPr>
          <p:cNvSpPr/>
          <p:nvPr/>
        </p:nvSpPr>
        <p:spPr>
          <a:xfrm>
            <a:off x="2240280" y="2048256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Develop Strategic Airport Partnerships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Collaborate with major airports to secure priority scheduling, reduced turnaround time and better ground handling support</a:t>
            </a:r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55F7D0D0-DCC6-AAA3-8645-2A81D842ABB8}"/>
              </a:ext>
            </a:extLst>
          </p:cNvPr>
          <p:cNvSpPr/>
          <p:nvPr/>
        </p:nvSpPr>
        <p:spPr>
          <a:xfrm>
            <a:off x="274320" y="2852928"/>
            <a:ext cx="8595360" cy="822960"/>
          </a:xfrm>
          <a:prstGeom prst="rect">
            <a:avLst/>
          </a:prstGeom>
          <a:solidFill>
            <a:srgbClr val="1E1E1E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5BD26FFF-E104-1E3E-4441-4E4A8A7CB152}"/>
              </a:ext>
            </a:extLst>
          </p:cNvPr>
          <p:cNvSpPr/>
          <p:nvPr/>
        </p:nvSpPr>
        <p:spPr>
          <a:xfrm>
            <a:off x="274320" y="2852928"/>
            <a:ext cx="1280160" cy="822960"/>
          </a:xfrm>
          <a:prstGeom prst="rect">
            <a:avLst/>
          </a:prstGeom>
          <a:solidFill>
            <a:srgbClr val="D4845A">
              <a:alpha val="80000"/>
            </a:srgbClr>
          </a:solidFill>
          <a:ln/>
        </p:spPr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BAFE9EA1-BC18-EF33-2DE0-4E594DD452D5}"/>
              </a:ext>
            </a:extLst>
          </p:cNvPr>
          <p:cNvSpPr/>
          <p:nvPr/>
        </p:nvSpPr>
        <p:spPr>
          <a:xfrm>
            <a:off x="274320" y="3054096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</a:rPr>
              <a:t>MEDIUM</a:t>
            </a:r>
            <a:endParaRPr lang="en-US" sz="1200" dirty="0"/>
          </a:p>
        </p:txBody>
      </p:sp>
      <p:pic>
        <p:nvPicPr>
          <p:cNvPr id="18" name="Image 2" descr="preencoded.png">
            <a:extLst>
              <a:ext uri="{FF2B5EF4-FFF2-40B4-BE49-F238E27FC236}">
                <a16:creationId xmlns:a16="http://schemas.microsoft.com/office/drawing/2014/main" id="{1429E729-726B-75A7-F2F8-145BDF09C1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3080" y="3054096"/>
            <a:ext cx="347472" cy="347472"/>
          </a:xfrm>
          <a:prstGeom prst="rect">
            <a:avLst/>
          </a:prstGeom>
        </p:spPr>
      </p:pic>
      <p:sp>
        <p:nvSpPr>
          <p:cNvPr id="19" name="Text 14">
            <a:extLst>
              <a:ext uri="{FF2B5EF4-FFF2-40B4-BE49-F238E27FC236}">
                <a16:creationId xmlns:a16="http://schemas.microsoft.com/office/drawing/2014/main" id="{3958001D-5858-B834-0F3A-C60A3CA4F03F}"/>
              </a:ext>
            </a:extLst>
          </p:cNvPr>
          <p:cNvSpPr/>
          <p:nvPr/>
        </p:nvSpPr>
        <p:spPr>
          <a:xfrm>
            <a:off x="2240280" y="301752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Build a Strong Customer Experience System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Implement a mobile platform that provides real-time flight updates , automated compensation for delays, and personalized offers based on travel history</a:t>
            </a:r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8EE503FD-FF00-C301-0AB7-86DDB63123A7}"/>
              </a:ext>
            </a:extLst>
          </p:cNvPr>
          <p:cNvSpPr/>
          <p:nvPr/>
        </p:nvSpPr>
        <p:spPr>
          <a:xfrm>
            <a:off x="274320" y="3822192"/>
            <a:ext cx="8595360" cy="822960"/>
          </a:xfrm>
          <a:prstGeom prst="rect">
            <a:avLst/>
          </a:prstGeom>
          <a:solidFill>
            <a:srgbClr val="1E1E1E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28B5794B-3420-7645-D65A-11F0966EF853}"/>
              </a:ext>
            </a:extLst>
          </p:cNvPr>
          <p:cNvSpPr/>
          <p:nvPr/>
        </p:nvSpPr>
        <p:spPr>
          <a:xfrm>
            <a:off x="274320" y="3822192"/>
            <a:ext cx="1280160" cy="822960"/>
          </a:xfrm>
          <a:prstGeom prst="rect">
            <a:avLst/>
          </a:prstGeom>
          <a:solidFill>
            <a:srgbClr val="7DA87B">
              <a:alpha val="80000"/>
            </a:srgbClr>
          </a:solidFill>
          <a:ln/>
        </p:spPr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78AAF4E7-C27A-1E02-5940-EF3A51A168A3}"/>
              </a:ext>
            </a:extLst>
          </p:cNvPr>
          <p:cNvSpPr/>
          <p:nvPr/>
        </p:nvSpPr>
        <p:spPr>
          <a:xfrm>
            <a:off x="274320" y="40233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</a:rPr>
              <a:t>LOW</a:t>
            </a:r>
            <a:endParaRPr lang="en-US" sz="1200" dirty="0"/>
          </a:p>
        </p:txBody>
      </p:sp>
      <p:pic>
        <p:nvPicPr>
          <p:cNvPr id="23" name="Image 3" descr="preencoded.png">
            <a:extLst>
              <a:ext uri="{FF2B5EF4-FFF2-40B4-BE49-F238E27FC236}">
                <a16:creationId xmlns:a16="http://schemas.microsoft.com/office/drawing/2014/main" id="{2BB47A27-8650-47D0-B652-A83D98288B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83080" y="4023360"/>
            <a:ext cx="347472" cy="347472"/>
          </a:xfrm>
          <a:prstGeom prst="rect">
            <a:avLst/>
          </a:prstGeom>
        </p:spPr>
      </p:pic>
      <p:sp>
        <p:nvSpPr>
          <p:cNvPr id="24" name="Text 18">
            <a:extLst>
              <a:ext uri="{FF2B5EF4-FFF2-40B4-BE49-F238E27FC236}">
                <a16:creationId xmlns:a16="http://schemas.microsoft.com/office/drawing/2014/main" id="{6D2EE039-7061-85A3-A528-80AB6577229D}"/>
              </a:ext>
            </a:extLst>
          </p:cNvPr>
          <p:cNvSpPr/>
          <p:nvPr/>
        </p:nvSpPr>
        <p:spPr>
          <a:xfrm>
            <a:off x="2240280" y="3986784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Expand Data Infrastructure &amp; Analytics Capacity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Establish a centralized data and analytics team to improve forecasting, pricing and long-term planning  </a:t>
            </a:r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8356C1FC-6F60-3DBA-E633-331E4EA90482}"/>
              </a:ext>
            </a:extLst>
          </p:cNvPr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4C06465C-E705-89E2-0A75-299F9BB55044}"/>
              </a:ext>
            </a:extLst>
          </p:cNvPr>
          <p:cNvSpPr/>
          <p:nvPr/>
        </p:nvSpPr>
        <p:spPr>
          <a:xfrm>
            <a:off x="27432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9880"/>
                </a:solidFill>
              </a:rPr>
              <a:t>SkyConnect  •  Performance Dashboard 2022–2024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4116571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762AC8-8682-81E2-93E0-4EED2DBCC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677208F-BAD6-40B5-6922-3DCDE7FA0825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1440E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C67F9DF-1BF9-7F8F-5DA1-EEF77AB280B5}"/>
              </a:ext>
            </a:extLst>
          </p:cNvPr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8E1144B-6DBA-7FB8-ADE4-1953673D6155}"/>
              </a:ext>
            </a:extLst>
          </p:cNvPr>
          <p:cNvSpPr/>
          <p:nvPr/>
        </p:nvSpPr>
        <p:spPr>
          <a:xfrm>
            <a:off x="274320" y="111556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3243131A-696D-E76E-5054-C9BBB63137D1}"/>
              </a:ext>
            </a:extLst>
          </p:cNvPr>
          <p:cNvSpPr/>
          <p:nvPr/>
        </p:nvSpPr>
        <p:spPr>
          <a:xfrm>
            <a:off x="2240280" y="2048256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b="1" dirty="0">
              <a:solidFill>
                <a:srgbClr val="FFFFFF"/>
              </a:solidFill>
            </a:endParaRP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3A3E8ABA-AC54-58F7-A460-829C0BA19135}"/>
              </a:ext>
            </a:extLst>
          </p:cNvPr>
          <p:cNvSpPr/>
          <p:nvPr/>
        </p:nvSpPr>
        <p:spPr>
          <a:xfrm>
            <a:off x="274320" y="3054096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8D68E973-6102-0A8E-DCEB-77E288DD70DD}"/>
              </a:ext>
            </a:extLst>
          </p:cNvPr>
          <p:cNvSpPr/>
          <p:nvPr/>
        </p:nvSpPr>
        <p:spPr>
          <a:xfrm>
            <a:off x="274320" y="40233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88435473-FE86-0D16-9F95-C9733080292F}"/>
              </a:ext>
            </a:extLst>
          </p:cNvPr>
          <p:cNvSpPr/>
          <p:nvPr/>
        </p:nvSpPr>
        <p:spPr>
          <a:xfrm>
            <a:off x="2240280" y="3986784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b="1" dirty="0">
              <a:solidFill>
                <a:srgbClr val="FFFFFF"/>
              </a:solidFill>
            </a:endParaRPr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F2949302-4F1E-7B32-0169-C8A2EF38C2C6}"/>
              </a:ext>
            </a:extLst>
          </p:cNvPr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8AF69154-EE2F-9F5F-3FD3-195B6BEF8B25}"/>
              </a:ext>
            </a:extLst>
          </p:cNvPr>
          <p:cNvSpPr/>
          <p:nvPr/>
        </p:nvSpPr>
        <p:spPr>
          <a:xfrm>
            <a:off x="27432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9880"/>
                </a:solidFill>
              </a:rPr>
              <a:t>SkyConnect  •  Performance Dashboard 2022–2024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4166718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1440E"/>
          </a:solidFill>
          <a:ln/>
        </p:spPr>
      </p:sp>
      <p:sp>
        <p:nvSpPr>
          <p:cNvPr id="4" name="Shape 2"/>
          <p:cNvSpPr/>
          <p:nvPr/>
        </p:nvSpPr>
        <p:spPr>
          <a:xfrm>
            <a:off x="9006840" y="0"/>
            <a:ext cx="137160" cy="5143500"/>
          </a:xfrm>
          <a:prstGeom prst="rect">
            <a:avLst/>
          </a:prstGeom>
          <a:solidFill>
            <a:srgbClr val="C1440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74320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9848" y="274320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274320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95144" y="274320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07792" y="274320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274320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33088" y="274320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45736" y="274320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58384" y="274320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71032" y="274320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0" y="274320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96328" y="274320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08976" y="274320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21624" y="274320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886968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9848" y="886968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82496" y="886968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95144" y="886968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07792" y="886968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0440" y="886968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33088" y="886968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45736" y="886968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58384" y="886968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71032" y="886968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83680" y="886968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96328" y="886968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808976" y="886968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421624" y="886968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1499616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69848" y="1499616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682496" y="1499616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95144" y="1499616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907792" y="1499616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520440" y="1499616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133088" y="1499616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45736" y="1499616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358384" y="1499616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971032" y="1499616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583680" y="1499616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196328" y="1499616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808976" y="1499616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421624" y="1499616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7200" y="2112264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69848" y="2112264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682496" y="2112264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295144" y="2112264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907792" y="2112264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520440" y="2112264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133088" y="2112264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745736" y="2112264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358384" y="2112264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971032" y="2112264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583680" y="2112264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196328" y="2112264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808976" y="2112264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421624" y="2112264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57200" y="2724912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69848" y="2724912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682496" y="2724912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295144" y="2724912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907792" y="2724912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520440" y="2724912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133088" y="2724912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745736" y="2724912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358384" y="2724912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971032" y="2724912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583680" y="2724912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196328" y="2724912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808976" y="2724912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421624" y="2724912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57200" y="3337560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69848" y="3337560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682496" y="3337560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295144" y="3337560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907792" y="3337560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520440" y="3337560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133088" y="3337560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745736" y="3337560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358384" y="3337560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971032" y="3337560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583680" y="3337560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196328" y="3337560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808976" y="3337560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421624" y="3337560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57200" y="3950208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069848" y="3950208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682496" y="3950208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295144" y="3950208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907792" y="3950208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520440" y="3950208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133088" y="3950208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745736" y="3950208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358384" y="3950208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971032" y="3950208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583680" y="3950208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196328" y="3950208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808976" y="3950208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421624" y="3950208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57200" y="4562856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069848" y="4562856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682496" y="4562856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2295144" y="4562856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2907792" y="4562856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520440" y="4562856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133088" y="4562856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745736" y="4562856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358384" y="4562856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971032" y="4562856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6583680" y="4562856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7196328" y="4562856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7808976" y="4562856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8421624" y="4562856"/>
            <a:ext cx="45720" cy="45720"/>
          </a:xfrm>
          <a:prstGeom prst="ellipse">
            <a:avLst/>
          </a:prstGeom>
          <a:solidFill>
            <a:srgbClr val="C1440E">
              <a:alpha val="20000"/>
            </a:srgbClr>
          </a:solidFill>
          <a:ln w="12700">
            <a:solidFill>
              <a:srgbClr val="C1440E">
                <a:alpha val="20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371600" y="1097280"/>
            <a:ext cx="6400800" cy="2926080"/>
          </a:xfrm>
          <a:prstGeom prst="rect">
            <a:avLst/>
          </a:prstGeom>
          <a:solidFill>
            <a:srgbClr val="111111"/>
          </a:solidFill>
          <a:ln/>
          <a:effectLst>
            <a:outerShdw blurRad="2540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18" name="Shape 116"/>
          <p:cNvSpPr/>
          <p:nvPr/>
        </p:nvSpPr>
        <p:spPr>
          <a:xfrm>
            <a:off x="1371600" y="1097280"/>
            <a:ext cx="6400800" cy="73152"/>
          </a:xfrm>
          <a:prstGeom prst="rect">
            <a:avLst/>
          </a:prstGeom>
          <a:solidFill>
            <a:srgbClr val="C1440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1371600" y="3950208"/>
            <a:ext cx="6400800" cy="73152"/>
          </a:xfrm>
          <a:prstGeom prst="rect">
            <a:avLst/>
          </a:prstGeom>
          <a:solidFill>
            <a:srgbClr val="C1440E"/>
          </a:solidFill>
          <a:ln/>
        </p:spPr>
      </p:sp>
      <p:sp>
        <p:nvSpPr>
          <p:cNvPr id="120" name="Text 118"/>
          <p:cNvSpPr/>
          <p:nvPr/>
        </p:nvSpPr>
        <p:spPr>
          <a:xfrm>
            <a:off x="1371600" y="13258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kern="0" spc="30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CLEARED FOR TAKEOFF</a:t>
            </a:r>
            <a:endParaRPr lang="en-US" sz="2800" dirty="0"/>
          </a:p>
        </p:txBody>
      </p:sp>
      <p:sp>
        <p:nvSpPr>
          <p:cNvPr id="121" name="Text 119"/>
          <p:cNvSpPr/>
          <p:nvPr/>
        </p:nvSpPr>
        <p:spPr>
          <a:xfrm>
            <a:off x="1371600" y="18288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2C94C"/>
                </a:solidFill>
              </a:rPr>
              <a:t>SkyConnect's Data-Driven Future</a:t>
            </a:r>
            <a:endParaRPr lang="en-US" sz="1800" dirty="0"/>
          </a:p>
        </p:txBody>
      </p:sp>
      <p:sp>
        <p:nvSpPr>
          <p:cNvPr id="122" name="Shape 120"/>
          <p:cNvSpPr/>
          <p:nvPr/>
        </p:nvSpPr>
        <p:spPr>
          <a:xfrm>
            <a:off x="3200400" y="2331720"/>
            <a:ext cx="2743200" cy="36576"/>
          </a:xfrm>
          <a:prstGeom prst="rect">
            <a:avLst/>
          </a:prstGeom>
          <a:solidFill>
            <a:srgbClr val="C1440E">
              <a:alpha val="50000"/>
            </a:srgbClr>
          </a:solidFill>
          <a:ln/>
        </p:spPr>
      </p:sp>
      <p:sp>
        <p:nvSpPr>
          <p:cNvPr id="123" name="Text 121"/>
          <p:cNvSpPr/>
          <p:nvPr/>
        </p:nvSpPr>
        <p:spPr>
          <a:xfrm>
            <a:off x="1645920" y="2487168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A89880"/>
                </a:solidFill>
              </a:rPr>
              <a:t>"Data doesn't just describe what happened —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A89880"/>
                </a:solidFill>
              </a:rPr>
              <a:t>it tells us what must happen next."</a:t>
            </a:r>
            <a:endParaRPr lang="en-US" sz="1300" dirty="0"/>
          </a:p>
        </p:txBody>
      </p:sp>
      <p:sp>
        <p:nvSpPr>
          <p:cNvPr id="124" name="Text 122"/>
          <p:cNvSpPr/>
          <p:nvPr/>
        </p:nvSpPr>
        <p:spPr>
          <a:xfrm>
            <a:off x="1371600" y="35204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9880"/>
                </a:solidFill>
              </a:rPr>
              <a:t>Empowering leadership  •  Strengthening reliability  •  Sustainable African aviation growth</a:t>
            </a:r>
            <a:endParaRPr lang="en-US" sz="1000" dirty="0"/>
          </a:p>
        </p:txBody>
      </p:sp>
      <p:sp>
        <p:nvSpPr>
          <p:cNvPr id="125" name="Text 123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9880"/>
                </a:solidFill>
              </a:rPr>
              <a:t>Data Analytics Trainees (Tech Studio Academy) — April 2026  |  Lagos, Nigeria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6226</TotalTime>
  <Words>962</Words>
  <Application>Microsoft Office PowerPoint</Application>
  <PresentationFormat>On-screen Show (16:9)</PresentationFormat>
  <Paragraphs>200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SkyConnect Airline Performance Dashboard</dc:title>
  <dc:subject>PptxGenJS Presentation</dc:subject>
  <dc:creator>PptxGenJS</dc:creator>
  <cp:lastModifiedBy>Ponmile Bakare</cp:lastModifiedBy>
  <cp:revision>9</cp:revision>
  <dcterms:created xsi:type="dcterms:W3CDTF">2026-04-14T12:18:48Z</dcterms:created>
  <dcterms:modified xsi:type="dcterms:W3CDTF">2026-04-22T09:10:27Z</dcterms:modified>
</cp:coreProperties>
</file>